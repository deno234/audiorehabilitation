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7"/>
    <p:sldId id="257" r:id="rId8"/>
    <p:sldId id="258" r:id="rId9"/>
    <p:sldId id="259" r:id="rId10"/>
    <p:sldId id="260" r:id="rId11"/>
    <p:sldId id="261" r:id="rId6"/>
    <p:sldId id="262" r:id="rId5"/>
    <p:sldId id="263" r:id="rId4"/>
    <p:sldId id="264" r:id="rId3"/>
    <p:sldId id="265" r:id="rId2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792000" cy="550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78731" autoAdjust="0"/>
  </p:normalViewPr>
  <p:slideViewPr>
    <p:cSldViewPr snapToGrid="0" snapToObjects="1">
      <p:cViewPr varScale="1">
        <p:scale>
          <a:sx n="90" d="100"/>
          <a:sy n="90" d="100"/>
        </p:scale>
        <p:origin x="135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0.xml"/><Relationship Id="rId3" Type="http://schemas.openxmlformats.org/officeDocument/2006/relationships/slide" Target="slides/slide9.xml"/><Relationship Id="rId4" Type="http://schemas.openxmlformats.org/officeDocument/2006/relationships/slide" Target="slides/slide8.xml"/><Relationship Id="rId5" Type="http://schemas.openxmlformats.org/officeDocument/2006/relationships/slide" Target="slides/slide7.xml"/><Relationship Id="rId6" Type="http://schemas.openxmlformats.org/officeDocument/2006/relationships/slide" Target="slides/slide6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/>
              <a:t>Ukupna usporedba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tehnički valjano</c:v>
                </c:pt>
              </c:strCache>
            </c:strRef>
          </c:tx>
          <c:spPr>
            <a:solidFill>
              <a:srgbClr val="22A1B2"/>
            </a:solidFill>
          </c:spPr>
          <c:cat>
            <c:strRef>
              <c:f>Sheet1!$A$2:$A$3</c:f>
              <c:strCache>
                <c:ptCount val="2"/>
                <c:pt idx="0">
                  <c:v>ChatGPT Plus</c:v>
                </c:pt>
                <c:pt idx="1">
                  <c:v>Ollama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48.6</c:v>
                </c:pt>
                <c:pt idx="1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SL prolaz</c:v>
                </c:pt>
              </c:strCache>
            </c:strRef>
          </c:tx>
          <c:spPr>
            <a:solidFill>
              <a:srgbClr val="D88D3D"/>
            </a:solidFill>
          </c:spPr>
          <c:cat>
            <c:strRef>
              <c:f>Sheet1!$A$2:$A$3</c:f>
              <c:strCache>
                <c:ptCount val="2"/>
                <c:pt idx="0">
                  <c:v>ChatGPT Plus</c:v>
                </c:pt>
                <c:pt idx="1">
                  <c:v>Ollama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85.9</c:v>
                </c:pt>
                <c:pt idx="1">
                  <c:v>4.6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Hunspell</c:v>
                </c:pt>
              </c:strCache>
            </c:strRef>
          </c:tx>
          <c:spPr>
            <a:solidFill>
              <a:srgbClr val="1F5D7A"/>
            </a:solidFill>
          </c:spPr>
          <c:cat>
            <c:strRef>
              <c:f>Sheet1!$A$2:$A$3</c:f>
              <c:strCache>
                <c:ptCount val="2"/>
                <c:pt idx="0">
                  <c:v>ChatGPT Plus</c:v>
                </c:pt>
                <c:pt idx="1">
                  <c:v>Ollama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95.4</c:v>
                </c:pt>
                <c:pt idx="1">
                  <c:v>76.8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/>
              <a:t>Niže je bolje; skala radi prikaza ×100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WER ×100</c:v>
                </c:pt>
              </c:strCache>
            </c:strRef>
          </c:tx>
          <c:spPr>
            <a:solidFill>
              <a:srgbClr val="22A1B2"/>
            </a:solidFill>
          </c:spPr>
          <c:cat>
            <c:strRef>
              <c:f>Sheet1!$A$2:$A$4</c:f>
              <c:strCache>
                <c:ptCount val="3"/>
                <c:pt idx="0">
                  <c:v>Coqui</c:v>
                </c:pt>
                <c:pt idx="1">
                  <c:v>eSpeak</c:v>
                </c:pt>
                <c:pt idx="2">
                  <c:v>SpeechT5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118.7</c:v>
                </c:pt>
                <c:pt idx="1">
                  <c:v>107.6</c:v>
                </c:pt>
                <c:pt idx="2">
                  <c:v>96.7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CER ×100</c:v>
                </c:pt>
              </c:strCache>
            </c:strRef>
          </c:tx>
          <c:spPr>
            <a:solidFill>
              <a:srgbClr val="D88D3D"/>
            </a:solidFill>
          </c:spPr>
          <c:cat>
            <c:strRef>
              <c:f>Sheet1!$A$2:$A$4</c:f>
              <c:strCache>
                <c:ptCount val="3"/>
                <c:pt idx="0">
                  <c:v>Coqui</c:v>
                </c:pt>
                <c:pt idx="1">
                  <c:v>eSpeak</c:v>
                </c:pt>
                <c:pt idx="2">
                  <c:v>SpeechT5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69.3</c:v>
                </c:pt>
                <c:pt idx="1">
                  <c:v>44.3</c:v>
                </c:pt>
                <c:pt idx="2">
                  <c:v>43.8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47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audio_demo/demo_draga_rada_radi_espeak_ng.wav" TargetMode="External"/><Relationship Id="rId3" Type="http://schemas.openxmlformats.org/officeDocument/2006/relationships/hyperlink" Target="audio_demo/demo_draga_rada_radi_coqui_vits_hr.wav" TargetMode="External"/><Relationship Id="rId4" Type="http://schemas.openxmlformats.org/officeDocument/2006/relationships/hyperlink" Target="audio_demo/demo_draga_rada_radi_speecht5_hr.wav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972000"/>
            <a:ext cx="9792000" cy="75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2800" b="1">
                <a:solidFill>
                  <a:srgbClr val="1F5D7A"/>
                </a:solidFill>
                <a:latin typeface="Aptos"/>
              </a:rPr>
              <a:t>Evaluacija jezičnih generativnih modela</a:t>
            </a:r>
            <a:br/>
            <a:r>
              <a:rPr sz="2800" b="1">
                <a:solidFill>
                  <a:srgbClr val="1F5D7A"/>
                </a:solidFill>
                <a:latin typeface="Aptos"/>
              </a:rPr>
              <a:t>za potrebe audiorehabilitacije</a:t>
            </a:r>
          </a:p>
        </p:txBody>
      </p:sp>
      <p:sp>
        <p:nvSpPr>
          <p:cNvPr id="3" name="Oval 2"/>
          <p:cNvSpPr/>
          <p:nvPr/>
        </p:nvSpPr>
        <p:spPr>
          <a:xfrm>
            <a:off x="720000" y="3024000"/>
            <a:ext cx="720000" cy="720000"/>
          </a:xfrm>
          <a:prstGeom prst="ellipse">
            <a:avLst/>
          </a:prstGeom>
          <a:solidFill>
            <a:srgbClr val="F1F6F8"/>
          </a:solidFill>
          <a:ln>
            <a:solidFill>
              <a:srgbClr val="22A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00" y="3798000"/>
            <a:ext cx="1007999" cy="19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LLM</a:t>
            </a:r>
          </a:p>
        </p:txBody>
      </p:sp>
      <p:sp>
        <p:nvSpPr>
          <p:cNvPr id="5" name="Oval 4"/>
          <p:cNvSpPr/>
          <p:nvPr/>
        </p:nvSpPr>
        <p:spPr>
          <a:xfrm>
            <a:off x="2484000" y="3024000"/>
            <a:ext cx="720000" cy="720000"/>
          </a:xfrm>
          <a:prstGeom prst="ellipse">
            <a:avLst/>
          </a:prstGeom>
          <a:solidFill>
            <a:srgbClr val="E0EFF4"/>
          </a:solidFill>
          <a:ln>
            <a:solidFill>
              <a:srgbClr val="22A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340000" y="3798000"/>
            <a:ext cx="1007999" cy="19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fonemi</a:t>
            </a:r>
          </a:p>
        </p:txBody>
      </p:sp>
      <p:sp>
        <p:nvSpPr>
          <p:cNvPr id="7" name="Oval 6"/>
          <p:cNvSpPr/>
          <p:nvPr/>
        </p:nvSpPr>
        <p:spPr>
          <a:xfrm>
            <a:off x="4248000" y="3024000"/>
            <a:ext cx="720000" cy="720000"/>
          </a:xfrm>
          <a:prstGeom prst="ellipse">
            <a:avLst/>
          </a:prstGeom>
          <a:solidFill>
            <a:srgbClr val="F1F6F8"/>
          </a:solidFill>
          <a:ln>
            <a:solidFill>
              <a:srgbClr val="22A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04000" y="3798000"/>
            <a:ext cx="1007999" cy="19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validacija</a:t>
            </a:r>
          </a:p>
        </p:txBody>
      </p:sp>
      <p:sp>
        <p:nvSpPr>
          <p:cNvPr id="9" name="Oval 8"/>
          <p:cNvSpPr/>
          <p:nvPr/>
        </p:nvSpPr>
        <p:spPr>
          <a:xfrm>
            <a:off x="6012000" y="3024000"/>
            <a:ext cx="720000" cy="720000"/>
          </a:xfrm>
          <a:prstGeom prst="ellipse">
            <a:avLst/>
          </a:prstGeom>
          <a:solidFill>
            <a:srgbClr val="E0EFF4"/>
          </a:solidFill>
          <a:ln>
            <a:solidFill>
              <a:srgbClr val="22A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68000" y="3798000"/>
            <a:ext cx="1007999" cy="19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TTS</a:t>
            </a:r>
          </a:p>
        </p:txBody>
      </p:sp>
      <p:sp>
        <p:nvSpPr>
          <p:cNvPr id="11" name="Oval 10"/>
          <p:cNvSpPr/>
          <p:nvPr/>
        </p:nvSpPr>
        <p:spPr>
          <a:xfrm>
            <a:off x="7776000" y="3024000"/>
            <a:ext cx="720000" cy="720000"/>
          </a:xfrm>
          <a:prstGeom prst="ellipse">
            <a:avLst/>
          </a:prstGeom>
          <a:solidFill>
            <a:srgbClr val="F1F6F8"/>
          </a:solidFill>
          <a:ln>
            <a:solidFill>
              <a:srgbClr val="22A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32000" y="3798000"/>
            <a:ext cx="1007999" cy="19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audio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0000" y="6246000"/>
            <a:ext cx="1620000" cy="19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r"/>
            <a:r>
              <a:rPr sz="1200" b="0">
                <a:solidFill>
                  <a:srgbClr val="606C75"/>
                </a:solidFill>
                <a:latin typeface="Aptos"/>
              </a:rPr>
              <a:t>Denis Ibiši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Motivacija: zašto baš fonetski kontroliran materijal?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68000" y="1512000"/>
            <a:ext cx="2556000" cy="14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8000" y="1512000"/>
            <a:ext cx="64800" cy="1440000"/>
          </a:xfrm>
          <a:prstGeom prst="rect">
            <a:avLst/>
          </a:prstGeom>
          <a:solidFill>
            <a:srgbClr val="22A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3999" y="1602000"/>
            <a:ext cx="2322000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Slušni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3999" y="1854000"/>
            <a:ext cx="2322000" cy="1062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U audiorehabilitaciji često se vježbaju kontrasti koje korisnik teško razlikuje.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Primjer: /s/ i /š/, /č/ i /ć/, /nj/ i /lj/.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00000" y="1512000"/>
            <a:ext cx="2556000" cy="14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00000" y="1512000"/>
            <a:ext cx="64800" cy="1440000"/>
          </a:xfrm>
          <a:prstGeom prst="rect">
            <a:avLst/>
          </a:prstGeom>
          <a:solidFill>
            <a:srgbClr val="D88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25999" y="1602000"/>
            <a:ext cx="2322000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Kontrolirani tekst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25999" y="1854000"/>
            <a:ext cx="2322000" cy="1062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Treba znati koliko je ciljanih fonema u riječi ili rečenici.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Zato uvodimo klase fonema i postotak zasićenja.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32000" y="1512000"/>
            <a:ext cx="2556000" cy="14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732000" y="1512000"/>
            <a:ext cx="64800" cy="1440000"/>
          </a:xfrm>
          <a:prstGeom prst="rect">
            <a:avLst/>
          </a:prstGeom>
          <a:solidFill>
            <a:srgbClr val="4F9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7999" y="1602000"/>
            <a:ext cx="2322000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Audio vježbe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7999" y="1854000"/>
            <a:ext cx="2322000" cy="1062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Tekst se smije pretvoriti u zvuk tek nakon validacije.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TTS je zadnji korak, ne dokaz kvalitete.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Istraživačko pitanje i doprinos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2000" y="1080000"/>
            <a:ext cx="1835999" cy="792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2000" y="1152000"/>
            <a:ext cx="1835999" cy="234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900" b="1">
                <a:solidFill>
                  <a:srgbClr val="22A1B2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000" y="1422000"/>
            <a:ext cx="1763999" cy="45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Može li LLM generirati hrvatske riječi i rečenice s traženim fonemskim zasićenjem?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64000" y="1080000"/>
            <a:ext cx="1835999" cy="792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64000" y="1152000"/>
            <a:ext cx="1835999" cy="234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900" b="1">
                <a:solidFill>
                  <a:srgbClr val="D88D3D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00000" y="1422000"/>
            <a:ext cx="1763999" cy="45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Možemo li sve provjeriti deterministički, bez vjerovanja modelu?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96000" y="1080000"/>
            <a:ext cx="1835999" cy="792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96000" y="1152000"/>
            <a:ext cx="1835999" cy="234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900" b="1">
                <a:solidFill>
                  <a:srgbClr val="4F945D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2000" y="1422000"/>
            <a:ext cx="1763999" cy="45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Može li validirani tekst postati tehnički ispravan audio materijal?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28000" y="1080000"/>
            <a:ext cx="1835999" cy="792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28000" y="1152000"/>
            <a:ext cx="1835999" cy="234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900" b="1">
                <a:solidFill>
                  <a:srgbClr val="695BA6"/>
                </a:solidFill>
                <a:latin typeface="Apto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64000" y="1422000"/>
            <a:ext cx="1763999" cy="45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Koji je izvor bolji: ChatGPT Plus ili lokalni Ollama?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0000" y="2520000"/>
            <a:ext cx="8280000" cy="14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20000" y="2520000"/>
            <a:ext cx="64800" cy="1440000"/>
          </a:xfrm>
          <a:prstGeom prst="rect">
            <a:avLst/>
          </a:prstGeom>
          <a:solidFill>
            <a:srgbClr val="1F5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5999" y="2610000"/>
            <a:ext cx="8046000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1F5D7A"/>
                </a:solidFill>
                <a:latin typeface="Aptos"/>
              </a:rPr>
              <a:t>Glavna metodološka odluka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999" y="2862000"/>
            <a:ext cx="8046000" cy="1062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400" b="0">
                <a:solidFill>
                  <a:srgbClr val="2A343D"/>
                </a:solidFill>
                <a:latin typeface="Aptos"/>
              </a:rPr>
              <a:t>LLM ne broji foneme i ne odlučuje je li kandidat valjan.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400" b="0">
                <a:solidFill>
                  <a:srgbClr val="2A343D"/>
                </a:solidFill>
                <a:latin typeface="Aptos"/>
              </a:rPr>
              <a:t>LLM samo predlaže tekst. Python fonemizira, računa zasićenje, pronalazi duplikate, provjerava duljinu i generira CSV/Markdown izvještaje.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Veza s radom Andrijašević i Vukelić (MIPRO 2024)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0000" y="1080000"/>
            <a:ext cx="2700000" cy="16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0000" y="1080000"/>
            <a:ext cx="64800" cy="1620000"/>
          </a:xfrm>
          <a:prstGeom prst="rect">
            <a:avLst/>
          </a:prstGeom>
          <a:solidFill>
            <a:srgbClr val="22A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5999" y="1170000"/>
            <a:ext cx="2466000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Što preuzimamo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5999" y="1422000"/>
            <a:ext cx="2466000" cy="1242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hrvatski materijal za auditivni trening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pet fonemskih klasa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zasićenje ciljnom klasom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riječi i kratke rečenice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91999" y="1080000"/>
            <a:ext cx="2700000" cy="16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91999" y="1080000"/>
            <a:ext cx="64800" cy="1620000"/>
          </a:xfrm>
          <a:prstGeom prst="rect">
            <a:avLst/>
          </a:prstGeom>
          <a:solidFill>
            <a:srgbClr val="D88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7998" y="1170000"/>
            <a:ext cx="2466000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Što mijenjamo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7998" y="1422000"/>
            <a:ext cx="2466000" cy="1242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validacija nije u rukama LLM-a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sve ide kroz Python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spremamo sirove odgovore, CSV i izvještaje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dodajemo PCD, TTS, ASR i slušnu provjeru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23999" y="1080000"/>
            <a:ext cx="2700000" cy="16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23999" y="1080000"/>
            <a:ext cx="64800" cy="1620000"/>
          </a:xfrm>
          <a:prstGeom prst="rect">
            <a:avLst/>
          </a:prstGeom>
          <a:solidFill>
            <a:srgbClr val="4F9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49998" y="1170000"/>
            <a:ext cx="2466000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Što uspoređujemo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9998" y="1422000"/>
            <a:ext cx="2466000" cy="1242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reprodukcija paper-style promptova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ChatGPT Plus vs. Ollama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paper_style vs. strict_plain_list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eSpeak, Coqui i SpeechT5 za audio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0000" y="3456000"/>
            <a:ext cx="8280000" cy="36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400" b="1">
                <a:solidFill>
                  <a:srgbClr val="B74F4F"/>
                </a:solidFill>
                <a:latin typeface="Aptos"/>
              </a:rPr>
              <a:t>Važno: HJP u promptu nije dokaz. HJP valjanost je odvojena ručna / riječ-po-riječ provjera.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Fonemski zahtjevi: pet klasa i formula zasićenja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68000" y="1080000"/>
          <a:ext cx="5256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920"/>
                <a:gridCol w="3574080"/>
              </a:tblGrid>
              <a:tr h="300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Klasa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Fonemi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A343D"/>
                          </a:solidFill>
                          <a:latin typeface="Aptos"/>
                        </a:rPr>
                        <a:t>N / Niski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A343D"/>
                          </a:solidFill>
                          <a:latin typeface="Aptos"/>
                        </a:rPr>
                        <a:t>m, n, nj, b, p, 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A343D"/>
                          </a:solidFill>
                          <a:latin typeface="Aptos"/>
                        </a:rPr>
                        <a:t>SN / Srednjeniski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A343D"/>
                          </a:solidFill>
                          <a:latin typeface="Aptos"/>
                        </a:rPr>
                        <a:t>v, g, o, h, l, lj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A343D"/>
                          </a:solidFill>
                          <a:latin typeface="Aptos"/>
                        </a:rPr>
                        <a:t>S / Srednji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A343D"/>
                          </a:solidFill>
                          <a:latin typeface="Aptos"/>
                        </a:rPr>
                        <a:t>a, k, r, d, dž, f, 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A343D"/>
                          </a:solidFill>
                          <a:latin typeface="Aptos"/>
                        </a:rPr>
                        <a:t>SV / Srednjevisoki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A343D"/>
                          </a:solidFill>
                          <a:latin typeface="Aptos"/>
                        </a:rPr>
                        <a:t>č, e, š, t, đ, j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A343D"/>
                          </a:solidFill>
                          <a:latin typeface="Aptos"/>
                        </a:rPr>
                        <a:t>V / Visoki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A343D"/>
                          </a:solidFill>
                          <a:latin typeface="Aptos"/>
                        </a:rPr>
                        <a:t>ć, i, c, z,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120000" y="1080000"/>
            <a:ext cx="3131999" cy="18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20000" y="1080000"/>
            <a:ext cx="64800" cy="1800000"/>
          </a:xfrm>
          <a:prstGeom prst="rect">
            <a:avLst/>
          </a:prstGeom>
          <a:solidFill>
            <a:srgbClr val="1F5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45999" y="1170000"/>
            <a:ext cx="2897999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Formula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45999" y="1422000"/>
            <a:ext cx="2897999" cy="1422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50" b="0">
                <a:solidFill>
                  <a:srgbClr val="2A343D"/>
                </a:solidFill>
                <a:latin typeface="Aptos"/>
              </a:rPr>
              <a:t>zasićenje = broj fonema ciljne klase / ukupan broj fonema × 100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50" b="0">
                <a:solidFill>
                  <a:srgbClr val="2A343D"/>
                </a:solidFill>
                <a:latin typeface="Aptos"/>
              </a:rPr>
              <a:t>Parser najprije prepoznaje dž, lj i nj kao jedan fonem.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40000" y="3348000"/>
            <a:ext cx="6983999" cy="7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440000" y="3348000"/>
            <a:ext cx="64800" cy="720000"/>
          </a:xfrm>
          <a:prstGeom prst="rect">
            <a:avLst/>
          </a:prstGeom>
          <a:solidFill>
            <a:srgbClr val="22A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65999" y="3438000"/>
            <a:ext cx="6749999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Primjer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65999" y="3690000"/>
            <a:ext cx="6749999" cy="342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„puno banana u panju” → p u n o b a n a n a u p a nj u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`nj` se broji kao jedan fonem, razmaci se ne broje.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Implementirani postupak: generiranje + deterministička validacija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88000" y="1440000"/>
            <a:ext cx="1278000" cy="864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00" y="1512000"/>
            <a:ext cx="1278000" cy="234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900" b="1">
                <a:solidFill>
                  <a:srgbClr val="22A1B2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000" y="1782000"/>
            <a:ext cx="1206000" cy="522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prompt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00" y="2394000"/>
            <a:ext cx="1278000" cy="39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950" b="0">
                <a:solidFill>
                  <a:srgbClr val="2A343D"/>
                </a:solidFill>
                <a:latin typeface="Aptos"/>
              </a:rPr>
              <a:t>klasa, zasićenje, tip teksta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18000" y="1440000"/>
            <a:ext cx="1278000" cy="864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18000" y="1512000"/>
            <a:ext cx="1278000" cy="234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900" b="1">
                <a:solidFill>
                  <a:srgbClr val="22A1B2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54000" y="1782000"/>
            <a:ext cx="1206000" cy="522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LLM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18000" y="2394000"/>
            <a:ext cx="1278000" cy="39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950" b="0">
                <a:solidFill>
                  <a:srgbClr val="2A343D"/>
                </a:solidFill>
                <a:latin typeface="Aptos"/>
              </a:rPr>
              <a:t>ChatGPT Plus ili Ollama generira kandidate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48000" y="1440000"/>
            <a:ext cx="1278000" cy="864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48000" y="1512000"/>
            <a:ext cx="1278000" cy="234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900" b="1">
                <a:solidFill>
                  <a:srgbClr val="22A1B2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4000" y="1782000"/>
            <a:ext cx="1206000" cy="522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fonemizator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48000" y="2394000"/>
            <a:ext cx="1278000" cy="39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950" b="0">
                <a:solidFill>
                  <a:srgbClr val="2A343D"/>
                </a:solidFill>
                <a:latin typeface="Aptos"/>
              </a:rPr>
              <a:t>normalizacija + dž/lj/nj longest-match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78000" y="1440000"/>
            <a:ext cx="1278000" cy="864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78000" y="1512000"/>
            <a:ext cx="1278000" cy="234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900" b="1">
                <a:solidFill>
                  <a:srgbClr val="D88D3D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14000" y="1782000"/>
            <a:ext cx="1206000" cy="522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validacija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78000" y="2394000"/>
            <a:ext cx="1278000" cy="39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950" b="0">
                <a:solidFill>
                  <a:srgbClr val="2A343D"/>
                </a:solidFill>
                <a:latin typeface="Aptos"/>
              </a:rPr>
              <a:t>SL, znakovi, 3–5 riječi, duplikati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8000" y="1440000"/>
            <a:ext cx="1278000" cy="864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8000" y="1512000"/>
            <a:ext cx="1278000" cy="234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900" b="1">
                <a:solidFill>
                  <a:srgbClr val="D88D3D"/>
                </a:solidFill>
                <a:latin typeface="Apto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4000" y="1782000"/>
            <a:ext cx="1206000" cy="522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leksika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8000" y="2394000"/>
            <a:ext cx="1278000" cy="39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950" b="0">
                <a:solidFill>
                  <a:srgbClr val="2A343D"/>
                </a:solidFill>
                <a:latin typeface="Aptos"/>
              </a:rPr>
              <a:t>Hunspell + ručni HJP word-review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38000" y="1440000"/>
            <a:ext cx="1278000" cy="864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38000" y="1512000"/>
            <a:ext cx="1278000" cy="234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900" b="1">
                <a:solidFill>
                  <a:srgbClr val="D88D3D"/>
                </a:solidFill>
                <a:latin typeface="Aptos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74000" y="1782000"/>
            <a:ext cx="1206000" cy="522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izvještaj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38000" y="2394000"/>
            <a:ext cx="1278000" cy="39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950" b="0">
                <a:solidFill>
                  <a:srgbClr val="2A343D"/>
                </a:solidFill>
                <a:latin typeface="Aptos"/>
              </a:rPr>
              <a:t>CSV, Markdown, tablice, greške, PCD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0000" y="3600000"/>
            <a:ext cx="8280000" cy="28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Sva čitanja i pisanja CSV-a rade u UTF-8, tako da se čuvaju č, ć, đ, š, ž i fonemi dž/lj/nj.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Dizajn eksperimenata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2000" y="1080000"/>
            <a:ext cx="2664000" cy="18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2000" y="1080000"/>
            <a:ext cx="64800" cy="1872000"/>
          </a:xfrm>
          <a:prstGeom prst="rect">
            <a:avLst/>
          </a:prstGeom>
          <a:solidFill>
            <a:srgbClr val="22A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999" y="1170000"/>
            <a:ext cx="2430000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Reprodukcija rada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999" y="1422000"/>
            <a:ext cx="2430000" cy="1494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Riječi: 5 klasa × 5 SL × 11 = 275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Rečenice: 5 klasa × 2 SL × 21 = 210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Prompt: paper_style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Izvor: ChatGPT Plus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4000" y="1080000"/>
            <a:ext cx="2664000" cy="18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64000" y="1080000"/>
            <a:ext cx="64800" cy="1872000"/>
          </a:xfrm>
          <a:prstGeom prst="rect">
            <a:avLst/>
          </a:prstGeom>
          <a:solidFill>
            <a:srgbClr val="D88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89999" y="1170000"/>
            <a:ext cx="2430000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Task 16 usporedba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9999" y="1422000"/>
            <a:ext cx="2430000" cy="1494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5 klasa × 2 SL × 2 tipa × 2 prompta × 20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ChatGPT Plus: 797 kandidata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Ollama: 757 kandidata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96000" y="1080000"/>
            <a:ext cx="2664000" cy="18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96000" y="1080000"/>
            <a:ext cx="64800" cy="1872000"/>
          </a:xfrm>
          <a:prstGeom prst="rect">
            <a:avLst/>
          </a:prstGeom>
          <a:solidFill>
            <a:srgbClr val="4F9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21999" y="1170000"/>
            <a:ext cx="2430000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Audio faza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21999" y="1422000"/>
            <a:ext cx="2430000" cy="1494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TTS-ready skup: 355 kandidata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Uravnoteženi TTS podskup: 96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Sinteza: eSpeak NG, Coqui VITS HR, SpeechT5 HR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0000" y="3491999"/>
            <a:ext cx="7560000" cy="28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200" b="0">
                <a:solidFill>
                  <a:srgbClr val="606C75"/>
                </a:solidFill>
                <a:latin typeface="Aptos"/>
              </a:rPr>
              <a:t>SL = saturation level / prag zasićenja ciljnom fonemskom klasom.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Reprodukcija rada: tablica za riječi kao u paperu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0000" y="1080000"/>
          <a:ext cx="4356000" cy="18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8320"/>
                <a:gridCol w="679536"/>
                <a:gridCol w="679536"/>
                <a:gridCol w="679536"/>
                <a:gridCol w="679536"/>
                <a:gridCol w="679536"/>
              </a:tblGrid>
              <a:tr h="267428"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Paper</a:t>
                      </a:r>
                    </a:p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klasa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40 %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50 %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60 %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70 %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80 %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</a:tr>
              <a:tr h="267428">
                <a:tc>
                  <a:txBody>
                    <a:bodyPr/>
                    <a:lstStyle/>
                    <a:p>
                      <a:pPr algn="l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63,64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27,27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18,18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54,55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7428">
                <a:tc>
                  <a:txBody>
                    <a:bodyPr/>
                    <a:lstStyle/>
                    <a:p>
                      <a:pPr algn="l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LM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90,91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81,82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63,64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9,09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</a:tr>
              <a:tr h="267428">
                <a:tc>
                  <a:txBody>
                    <a:bodyPr/>
                    <a:lstStyle/>
                    <a:p>
                      <a:pPr algn="l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72,73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72,73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54,55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63,64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7428">
                <a:tc>
                  <a:txBody>
                    <a:bodyPr/>
                    <a:lstStyle/>
                    <a:p>
                      <a:pPr algn="l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MH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81,82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45,45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36,36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18,18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</a:tr>
              <a:tr h="267428">
                <a:tc>
                  <a:txBody>
                    <a:bodyPr/>
                    <a:lstStyle/>
                    <a:p>
                      <a:pPr algn="l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H1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36,36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27,27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36,36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7432">
                <a:tc>
                  <a:txBody>
                    <a:bodyPr/>
                    <a:lstStyle/>
                    <a:p>
                      <a:pPr algn="l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H2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18,18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18,18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9,09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76000" y="1080000"/>
          <a:ext cx="4356000" cy="16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8320"/>
                <a:gridCol w="679536"/>
                <a:gridCol w="679536"/>
                <a:gridCol w="679536"/>
                <a:gridCol w="679536"/>
                <a:gridCol w="679536"/>
              </a:tblGrid>
              <a:tr h="270000"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Naša</a:t>
                      </a:r>
                    </a:p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klasa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40 %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50 %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60 %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70 %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80 %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81,82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90,91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90,91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SN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90,91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90,91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90,91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90,91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90,91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90,91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SV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81,82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36,36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72,73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81,82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>
                          <a:solidFill>
                            <a:srgbClr val="2A343D"/>
                          </a:solidFill>
                          <a:latin typeface="Aptos"/>
                        </a:rPr>
                        <a:t>36,36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0000" y="3311999"/>
            <a:ext cx="8712000" cy="9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0000" y="3311999"/>
            <a:ext cx="64800" cy="972000"/>
          </a:xfrm>
          <a:prstGeom prst="rect">
            <a:avLst/>
          </a:prstGeom>
          <a:solidFill>
            <a:srgbClr val="1F5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5999" y="3401999"/>
            <a:ext cx="8478000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Isti indikator za riječi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5999" y="3653999"/>
            <a:ext cx="8478000" cy="594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80" b="0">
                <a:solidFill>
                  <a:srgbClr val="2A343D"/>
                </a:solidFill>
                <a:latin typeface="Aptos"/>
              </a:rPr>
              <a:t>Paper Table II prikazuje postotak riječi koje zadovoljavaju oba kriterija: saturation level + HJP/standardni jezik. Naša analogna tablica koristi saturation pass + ručni HJP word-review. Duplikati su dodatno analizirani u našem pipelineu, ali nisu dio ove paper-style ćelije.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Reprodukcija rada: tablica za rečenice kao u paperu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20000" y="1116000"/>
          <a:ext cx="3527998" cy="165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1760"/>
                <a:gridCol w="1023119"/>
                <a:gridCol w="1023119"/>
              </a:tblGrid>
              <a:tr h="275999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Paper</a:t>
                      </a:r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klasa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50 %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70 %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</a:tr>
              <a:tr h="275999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95,24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5999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LM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95,24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</a:tr>
              <a:tr h="275999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95,24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33,33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5999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MH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95,24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</a:tr>
              <a:tr h="276004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66,67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544000" y="1116000"/>
          <a:ext cx="3527998" cy="165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1760"/>
                <a:gridCol w="1023119"/>
                <a:gridCol w="1023119"/>
              </a:tblGrid>
              <a:tr h="275999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Naša</a:t>
                      </a:r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klasa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50 %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70 %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</a:tr>
              <a:tr h="275999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76,19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5999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SN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90,48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</a:tr>
              <a:tr h="275999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95,24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5999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SV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85,71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</a:tr>
              <a:tr h="276004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85,71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33,33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76000" y="3168000"/>
            <a:ext cx="8640000" cy="104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6000" y="3168000"/>
            <a:ext cx="64800" cy="1044000"/>
          </a:xfrm>
          <a:prstGeom prst="rect">
            <a:avLst/>
          </a:prstGeom>
          <a:solidFill>
            <a:srgbClr val="D88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1999" y="3258000"/>
            <a:ext cx="8406000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Isti indikator za rečenice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1999" y="3510000"/>
            <a:ext cx="8406000" cy="666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00" b="0">
                <a:solidFill>
                  <a:srgbClr val="2A343D"/>
                </a:solidFill>
                <a:latin typeface="Aptos"/>
              </a:rPr>
              <a:t>Paper Table III prikazuje postotak rečenica koje zadovoljavaju saturation criterion. Naša analogna tablica koristi isti saturation-pass kriterij. Rezultat je vrlo jak na 50 %, a na 70 % jasno pada za klasu V.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Rezultat 2: ChatGPT Plus vs. lokalni Ollama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3999" y="1080000"/>
          <a:ext cx="4500000" cy="223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00000" y="1206000"/>
          <a:ext cx="3888000" cy="115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920"/>
                <a:gridCol w="544320"/>
                <a:gridCol w="660960"/>
                <a:gridCol w="1360800"/>
              </a:tblGrid>
              <a:tr h="384000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Izvor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N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valid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glavne greške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</a:tr>
              <a:tr h="38400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A343D"/>
                          </a:solidFill>
                          <a:latin typeface="Aptos"/>
                        </a:rPr>
                        <a:t>ChatGPT Plus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A343D"/>
                          </a:solidFill>
                          <a:latin typeface="Aptos"/>
                        </a:rPr>
                        <a:t>797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A343D"/>
                          </a:solidFill>
                          <a:latin typeface="Aptos"/>
                        </a:rPr>
                        <a:t>48,6 %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A343D"/>
                          </a:solidFill>
                          <a:latin typeface="Aptos"/>
                        </a:rPr>
                        <a:t>duplikati=361; SL=112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0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2A343D"/>
                          </a:solidFill>
                          <a:latin typeface="Aptos"/>
                        </a:rPr>
                        <a:t>Ollama llama3.1:8b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A343D"/>
                          </a:solidFill>
                          <a:latin typeface="Aptos"/>
                        </a:rPr>
                        <a:t>757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A343D"/>
                          </a:solidFill>
                          <a:latin typeface="Aptos"/>
                        </a:rPr>
                        <a:t>4,5 %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2A343D"/>
                          </a:solidFill>
                          <a:latin typeface="Aptos"/>
                        </a:rPr>
                        <a:t>SL=722; broj riječi=195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00000" y="2628000"/>
            <a:ext cx="3888000" cy="10079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00000" y="2628000"/>
            <a:ext cx="64800" cy="1007999"/>
          </a:xfrm>
          <a:prstGeom prst="rect">
            <a:avLst/>
          </a:prstGeom>
          <a:solidFill>
            <a:srgbClr val="D88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25999" y="2718000"/>
            <a:ext cx="3654000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Interpretacija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25999" y="2970000"/>
            <a:ext cx="3654000" cy="629999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30" b="0">
                <a:solidFill>
                  <a:srgbClr val="2A343D"/>
                </a:solidFill>
                <a:latin typeface="Aptos"/>
              </a:rPr>
              <a:t>ChatGPT Plus najčešće razumije fonemski zadatak, ali se ponavlja. Ollama uglavnom ne pogađa ciljno zasićenje, pa nije dovoljno pouzdan u ovoj konfiguraciji.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Što je najčešće pošlo krivo?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2000" y="1080000"/>
            <a:ext cx="2736000" cy="18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2000" y="1080000"/>
            <a:ext cx="64800" cy="1800000"/>
          </a:xfrm>
          <a:prstGeom prst="rect">
            <a:avLst/>
          </a:prstGeom>
          <a:solidFill>
            <a:srgbClr val="22A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999" y="1170000"/>
            <a:ext cx="2502000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ChatGPT Plus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999" y="1422000"/>
            <a:ext cx="2502000" cy="1422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Najveći problem: duplikati.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strict_plain_list za riječi: 188 duplikata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paper_style za riječi: 71,5 % tehnički valjano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saturacija uglavnom dobra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8000" y="1080000"/>
            <a:ext cx="2736000" cy="18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28000" y="1080000"/>
            <a:ext cx="64800" cy="1800000"/>
          </a:xfrm>
          <a:prstGeom prst="rect">
            <a:avLst/>
          </a:prstGeom>
          <a:solidFill>
            <a:srgbClr val="B7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3999" y="1170000"/>
            <a:ext cx="2502000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Ollama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3999" y="1422000"/>
            <a:ext cx="2502000" cy="1422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Najveći problem: fonetski kriterij.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722 kandidata pala su na zasićenju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195 pogrešan broj riječi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lokalni model ne broji foneme pouzdano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23999" y="1080000"/>
            <a:ext cx="2736000" cy="18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23999" y="1080000"/>
            <a:ext cx="64800" cy="1800000"/>
          </a:xfrm>
          <a:prstGeom prst="rect">
            <a:avLst/>
          </a:prstGeom>
          <a:solidFill>
            <a:srgbClr val="1F5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49998" y="1170000"/>
            <a:ext cx="2502000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Lekcija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9998" y="1422000"/>
            <a:ext cx="2502000" cy="1422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Prompt nije validacija.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I kad tekst izgleda hrvatski, može pasti na fonemima, duplikatima, HJP-u ili strukturi rečenice.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0000" y="3600000"/>
            <a:ext cx="8280000" cy="324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400" b="1">
                <a:solidFill>
                  <a:srgbClr val="1F5D7A"/>
                </a:solidFill>
                <a:latin typeface="Aptos"/>
              </a:rPr>
              <a:t>Rješenje: model generira više kandidata nego što treba, a Python prihvaća samo one koji prođu pravila.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Kako evaluator odlučuje valjanost + PCD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0000" y="972000"/>
            <a:ext cx="2808000" cy="223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0000" y="972000"/>
            <a:ext cx="64800" cy="2232000"/>
          </a:xfrm>
          <a:prstGeom prst="rect">
            <a:avLst/>
          </a:prstGeom>
          <a:solidFill>
            <a:srgbClr val="22A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5999" y="1062000"/>
            <a:ext cx="2574000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Tehnički valjano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5999" y="1314000"/>
            <a:ext cx="2574000" cy="1854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60" b="0">
                <a:solidFill>
                  <a:srgbClr val="2A343D"/>
                </a:solidFill>
                <a:latin typeface="Aptos"/>
              </a:rPr>
              <a:t>Kandidat prolazi ako deterministički Python potvrdi: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60" b="0">
                <a:solidFill>
                  <a:srgbClr val="2A343D"/>
                </a:solidFill>
                <a:latin typeface="Aptos"/>
              </a:rPr>
              <a:t>• saturation pass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60" b="0">
                <a:solidFill>
                  <a:srgbClr val="2A343D"/>
                </a:solidFill>
                <a:latin typeface="Aptos"/>
              </a:rPr>
              <a:t>• dopušteni hrvatski znakovi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60" b="0">
                <a:solidFill>
                  <a:srgbClr val="2A343D"/>
                </a:solidFill>
                <a:latin typeface="Aptos"/>
              </a:rPr>
              <a:t>• ispravan broj riječi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60" b="0">
                <a:solidFill>
                  <a:srgbClr val="2A343D"/>
                </a:solidFill>
                <a:latin typeface="Aptos"/>
              </a:rPr>
              <a:t>• nije duplikat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60" b="0">
                <a:solidFill>
                  <a:srgbClr val="2A343D"/>
                </a:solidFill>
                <a:latin typeface="Aptos"/>
              </a:rPr>
              <a:t>• nema ponovljene riječi u rečenici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91999" y="972000"/>
            <a:ext cx="2808000" cy="223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91999" y="972000"/>
            <a:ext cx="64800" cy="2232000"/>
          </a:xfrm>
          <a:prstGeom prst="rect">
            <a:avLst/>
          </a:prstGeom>
          <a:solidFill>
            <a:srgbClr val="D88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7998" y="1062000"/>
            <a:ext cx="2574000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Odvojeno od toga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7998" y="1314000"/>
            <a:ext cx="2574000" cy="1854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60" b="0">
                <a:solidFill>
                  <a:srgbClr val="2A343D"/>
                </a:solidFill>
                <a:latin typeface="Aptos"/>
              </a:rPr>
              <a:t>Leksička provjera nije isto što i tehnička fonetska provjera.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60" b="0">
                <a:solidFill>
                  <a:srgbClr val="2A343D"/>
                </a:solidFill>
                <a:latin typeface="Aptos"/>
              </a:rPr>
              <a:t>Hunspell = automatski screening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60" b="0">
                <a:solidFill>
                  <a:srgbClr val="2A343D"/>
                </a:solidFill>
                <a:latin typeface="Aptos"/>
              </a:rPr>
              <a:t>HJP = ručni word-level review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60" b="0">
                <a:solidFill>
                  <a:srgbClr val="2A343D"/>
                </a:solidFill>
                <a:latin typeface="Aptos"/>
              </a:rPr>
              <a:t>Semantika i klinička prikladnost = ljudska procjena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23999" y="972000"/>
            <a:ext cx="2808000" cy="223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23999" y="972000"/>
            <a:ext cx="64800" cy="2232000"/>
          </a:xfrm>
          <a:prstGeom prst="rect">
            <a:avLst/>
          </a:prstGeom>
          <a:solidFill>
            <a:srgbClr val="1F5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49998" y="1062000"/>
            <a:ext cx="2574000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PCD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9998" y="1314000"/>
            <a:ext cx="2574000" cy="1854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60" b="0">
                <a:solidFill>
                  <a:srgbClr val="2A343D"/>
                </a:solidFill>
                <a:latin typeface="Aptos"/>
              </a:rPr>
              <a:t>Phonetic Content Dissimilarity mjeri koliko su dva kandidata fonetski različita.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60" b="0">
                <a:solidFill>
                  <a:srgbClr val="2A343D"/>
                </a:solidFill>
                <a:latin typeface="Aptos"/>
              </a:rPr>
              <a:t>Veći PCD znači veću raznolikost, manji PCD znači više sličnosti i ponavljanja.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720000" y="3636000"/>
          <a:ext cx="8352000" cy="7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8000"/>
                <a:gridCol w="1336320"/>
                <a:gridCol w="1336320"/>
                <a:gridCol w="3591360"/>
              </a:tblGrid>
              <a:tr h="240000"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Aptos"/>
                        </a:rPr>
                        <a:t>Izvor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Aptos"/>
                        </a:rPr>
                        <a:t>PCD grupa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Aptos"/>
                        </a:rPr>
                        <a:t>avg. PCD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Aptos"/>
                        </a:rPr>
                        <a:t>interpretacija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</a:tr>
              <a:tr h="240000">
                <a:tc>
                  <a:txBody>
                    <a:bodyPr/>
                    <a:lstStyle/>
                    <a:p>
                      <a:pPr algn="l"/>
                      <a:r>
                        <a:rPr sz="919">
                          <a:solidFill>
                            <a:srgbClr val="2A343D"/>
                          </a:solidFill>
                          <a:latin typeface="Aptos"/>
                        </a:rPr>
                        <a:t>ChatGPT Plus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2A343D"/>
                          </a:solidFill>
                          <a:latin typeface="Aptos"/>
                        </a:rPr>
                        <a:t>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2A343D"/>
                          </a:solidFill>
                          <a:latin typeface="Aptos"/>
                        </a:rPr>
                        <a:t>0,398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2A343D"/>
                          </a:solidFill>
                          <a:latin typeface="Aptos"/>
                        </a:rPr>
                        <a:t>više validnih grupa i veća raznolikost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40000">
                <a:tc>
                  <a:txBody>
                    <a:bodyPr/>
                    <a:lstStyle/>
                    <a:p>
                      <a:pPr algn="l"/>
                      <a:r>
                        <a:rPr sz="919">
                          <a:solidFill>
                            <a:srgbClr val="2A343D"/>
                          </a:solidFill>
                          <a:latin typeface="Aptos"/>
                        </a:rPr>
                        <a:t>Ollama llama3.1:8b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2A343D"/>
                          </a:solidFill>
                          <a:latin typeface="Aptos"/>
                        </a:rPr>
                        <a:t>11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2A343D"/>
                          </a:solidFill>
                          <a:latin typeface="Aptos"/>
                        </a:rPr>
                        <a:t>0,274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2A343D"/>
                          </a:solidFill>
                          <a:latin typeface="Aptos"/>
                        </a:rPr>
                        <a:t>malo validnih grupa i niža raznolikost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Leksička provjera: Hunspell nije HJP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3999" y="1116000"/>
            <a:ext cx="1908000" cy="792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3999" y="1188000"/>
            <a:ext cx="1908000" cy="234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900" b="1">
                <a:solidFill>
                  <a:srgbClr val="1F5D7A"/>
                </a:solidFill>
                <a:latin typeface="Aptos"/>
              </a:rPr>
              <a:t>797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999" y="1458000"/>
            <a:ext cx="1836000" cy="45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ChatGPT Plus kandidata u Task 16 skupu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00000" y="1116000"/>
            <a:ext cx="1908000" cy="792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00000" y="1188000"/>
            <a:ext cx="1908000" cy="234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900" b="1">
                <a:solidFill>
                  <a:srgbClr val="4F945D"/>
                </a:solidFill>
                <a:latin typeface="Aptos"/>
              </a:rPr>
              <a:t>776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36000" y="1458000"/>
            <a:ext cx="1836000" cy="45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HJP valjano nakon word-level propagacije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96000" y="1116000"/>
            <a:ext cx="1908000" cy="792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96000" y="1188000"/>
            <a:ext cx="1908000" cy="234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900" b="1">
                <a:solidFill>
                  <a:srgbClr val="B74F4F"/>
                </a:solidFill>
                <a:latin typeface="Aptos"/>
              </a:rPr>
              <a:t>21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2000" y="1458000"/>
            <a:ext cx="1836000" cy="45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HJP nevaljano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92000" y="1116000"/>
            <a:ext cx="1908000" cy="792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92000" y="1188000"/>
            <a:ext cx="1908000" cy="234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900" b="1">
                <a:solidFill>
                  <a:srgbClr val="22A1B2"/>
                </a:solidFill>
                <a:latin typeface="Aptos"/>
              </a:rPr>
              <a:t>355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28000" y="1458000"/>
            <a:ext cx="1836000" cy="45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tehnički + HJP valjan TTS-ready pool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2000" y="2664000"/>
            <a:ext cx="8208000" cy="10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2000" y="2664000"/>
            <a:ext cx="64800" cy="1080000"/>
          </a:xfrm>
          <a:prstGeom prst="rect">
            <a:avLst/>
          </a:prstGeom>
          <a:solidFill>
            <a:srgbClr val="D88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7999" y="2754000"/>
            <a:ext cx="7974000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Kako je riješeno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7999" y="3006000"/>
            <a:ext cx="7974000" cy="702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20" b="0">
                <a:solidFill>
                  <a:srgbClr val="2A343D"/>
                </a:solidFill>
                <a:latin typeface="Aptos"/>
              </a:rPr>
              <a:t>Izvozimo jedinstvene normalizirane riječi u CSV. Ručno označim hjp_valid = yes/no/unsure. Za rečenicu kandidat vrijedi samo ako su sve riječi označene kao HJP-valid.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20" b="0">
                <a:solidFill>
                  <a:srgbClr val="2A343D"/>
                </a:solidFill>
                <a:latin typeface="Aptos"/>
              </a:rPr>
              <a:t>Hunspell je samo automatski leksički screening, a ne konačna lingvistička ili klinička validacija.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Audio faza: isti tekst, tri TTS sustava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2000" y="1080000"/>
            <a:ext cx="2664000" cy="16559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2000" y="1080000"/>
            <a:ext cx="64800" cy="1655999"/>
          </a:xfrm>
          <a:prstGeom prst="rect">
            <a:avLst/>
          </a:prstGeom>
          <a:solidFill>
            <a:srgbClr val="22A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999" y="1170000"/>
            <a:ext cx="2430000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Ulaz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999" y="1422000"/>
            <a:ext cx="2430000" cy="1277999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Samo kandidati koji su prošli: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tehničku validaciju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Hunspell screening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ručni HJP word-review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4000" y="1080000"/>
            <a:ext cx="2664000" cy="16559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64000" y="1080000"/>
            <a:ext cx="64800" cy="1655999"/>
          </a:xfrm>
          <a:prstGeom prst="rect">
            <a:avLst/>
          </a:prstGeom>
          <a:solidFill>
            <a:srgbClr val="D88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89999" y="1170000"/>
            <a:ext cx="2430000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TTS sustavi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9999" y="1422000"/>
            <a:ext cx="2430000" cy="1277999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eSpeak NG, hrvatski glas hr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Coqui VITS HR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SpeechT5 HR lokalni model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Svi dobivaju isti skup tekstova.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96000" y="1080000"/>
            <a:ext cx="2664000" cy="16559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96000" y="1080000"/>
            <a:ext cx="64800" cy="1655999"/>
          </a:xfrm>
          <a:prstGeom prst="rect">
            <a:avLst/>
          </a:prstGeom>
          <a:solidFill>
            <a:srgbClr val="4F9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21999" y="1170000"/>
            <a:ext cx="2430000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Izlaz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21999" y="1422000"/>
            <a:ext cx="2430000" cy="1277999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Svi WAV-ovi normalizirani su na: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mono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16 kHz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• 16-bit PCM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2A343D"/>
                </a:solidFill>
                <a:latin typeface="Aptos"/>
              </a:rPr>
              <a:t>Zatim ide ASR i slušna provjera.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000" y="3491999"/>
            <a:ext cx="8496000" cy="324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250" b="0">
                <a:solidFill>
                  <a:srgbClr val="606C75"/>
                </a:solidFill>
                <a:latin typeface="Aptos"/>
              </a:rPr>
              <a:t>Uravnoteženi TTS podskup: 96 kandidata; skupina S / 70 % / riječ imala je samo 1 dostupni validirani kandidat.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Rezultat 3: tehnička TTS provjera i ASR WER/CER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32000" y="1080000"/>
          <a:ext cx="8928000" cy="12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9840"/>
                <a:gridCol w="1607040"/>
                <a:gridCol w="1607040"/>
                <a:gridCol w="1607040"/>
                <a:gridCol w="1607040"/>
              </a:tblGrid>
              <a:tr h="306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TTS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sintetizirano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format OK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ASR WER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ASR CER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Coqui VITS HR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96/96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100 %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WER 1,187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CER 0,693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eSpeak NG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96/96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100 %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WER 1,076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CER 0,443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SpeechT5 HR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96/96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100 %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WER 0,967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CER 0,438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20000" y="2628000"/>
          <a:ext cx="3780000" cy="165599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040000" y="2664000"/>
            <a:ext cx="4031999" cy="136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40000" y="2664000"/>
            <a:ext cx="64800" cy="1368000"/>
          </a:xfrm>
          <a:prstGeom prst="rect">
            <a:avLst/>
          </a:prstGeom>
          <a:solidFill>
            <a:srgbClr val="B7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5999" y="2754000"/>
            <a:ext cx="3797999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Caveat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65999" y="3006000"/>
            <a:ext cx="3797999" cy="990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200" b="0">
                <a:solidFill>
                  <a:srgbClr val="2A343D"/>
                </a:solidFill>
                <a:latin typeface="Aptos"/>
              </a:rPr>
              <a:t>ASR WER/CER je relativni proxy za razumljivost, nije klinički dokaz izgovora. Visok WER može doći od TTS-a, ASR-a ili neobičnog fonemskog sastava materijala.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Audio demo: ista rečenica kroz tri TTS sustava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3999" y="1007999"/>
            <a:ext cx="8856000" cy="7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3999" y="1007999"/>
            <a:ext cx="64800" cy="720000"/>
          </a:xfrm>
          <a:prstGeom prst="rect">
            <a:avLst/>
          </a:prstGeom>
          <a:solidFill>
            <a:srgbClr val="1F5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9998" y="1097999"/>
            <a:ext cx="8622000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Tekst za usporedbu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9998" y="1349999"/>
            <a:ext cx="8622000" cy="342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Sva tri audio primjera koriste isti kandidat: „Draga rada radi.”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A343D"/>
                </a:solidFill>
                <a:latin typeface="Aptos"/>
              </a:rPr>
              <a:t>Kopije su pojačane samo za prezentaciju, posebno zbog tišeg SpeechT5 izlaza.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8000" y="2160000"/>
            <a:ext cx="2340000" cy="792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8000" y="2232000"/>
            <a:ext cx="2340000" cy="234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900" b="1">
                <a:solidFill>
                  <a:srgbClr val="4F945D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4000" y="2502000"/>
            <a:ext cx="2268000" cy="45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eSpeak NG</a:t>
            </a:r>
          </a:p>
        </p:txBody>
      </p:sp>
      <p:sp>
        <p:nvSpPr>
          <p:cNvPr id="13" name="TextBox 12">
            <a:hlinkClick r:id="rId2"/>
          </p:cNvPr>
          <p:cNvSpPr txBox="1"/>
          <p:nvPr/>
        </p:nvSpPr>
        <p:spPr>
          <a:xfrm>
            <a:off x="648000" y="3114000"/>
            <a:ext cx="2340000" cy="28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919" b="0">
                <a:solidFill>
                  <a:srgbClr val="1F5D7A"/>
                </a:solidFill>
                <a:latin typeface="Aptos"/>
              </a:rPr>
              <a:t>demo_draga_rada_radi_espeak_ng.wav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000" y="3438000"/>
            <a:ext cx="2340000" cy="28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850" b="0">
                <a:solidFill>
                  <a:srgbClr val="606C75"/>
                </a:solidFill>
                <a:latin typeface="Aptos"/>
              </a:rPr>
              <a:t>Klikni naziv datoteke ili pusti WAV iz mape audio_demo.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00000" y="2160000"/>
            <a:ext cx="2340000" cy="792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00000" y="2232000"/>
            <a:ext cx="2340000" cy="234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900" b="1">
                <a:solidFill>
                  <a:srgbClr val="D88D3D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6000" y="2502000"/>
            <a:ext cx="2268000" cy="45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Coqui VITS HR</a:t>
            </a:r>
          </a:p>
        </p:txBody>
      </p:sp>
      <p:sp>
        <p:nvSpPr>
          <p:cNvPr id="18" name="TextBox 17">
            <a:hlinkClick r:id="rId3"/>
          </p:cNvPr>
          <p:cNvSpPr txBox="1"/>
          <p:nvPr/>
        </p:nvSpPr>
        <p:spPr>
          <a:xfrm>
            <a:off x="3600000" y="3114000"/>
            <a:ext cx="2340000" cy="28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919" b="0">
                <a:solidFill>
                  <a:srgbClr val="1F5D7A"/>
                </a:solidFill>
                <a:latin typeface="Aptos"/>
              </a:rPr>
              <a:t>demo_draga_rada_radi_coqui_vits_hr.wav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0000" y="3438000"/>
            <a:ext cx="2340000" cy="28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850" b="0">
                <a:solidFill>
                  <a:srgbClr val="606C75"/>
                </a:solidFill>
                <a:latin typeface="Aptos"/>
              </a:rPr>
              <a:t>Klikni naziv datoteke ili pusti WAV iz mape audio_demo.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52000" y="2160000"/>
            <a:ext cx="2340000" cy="792000"/>
          </a:xfrm>
          <a:prstGeom prst="roundRect">
            <a:avLst/>
          </a:prstGeom>
          <a:solidFill>
            <a:srgbClr val="F1F6F8"/>
          </a:solidFill>
          <a:ln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2000" y="2232000"/>
            <a:ext cx="2340000" cy="234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900" b="1">
                <a:solidFill>
                  <a:srgbClr val="22A1B2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8000" y="2502000"/>
            <a:ext cx="2268000" cy="45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980" b="0">
                <a:solidFill>
                  <a:srgbClr val="2A343D"/>
                </a:solidFill>
                <a:latin typeface="Aptos"/>
              </a:rPr>
              <a:t>SpeechT5 HR</a:t>
            </a:r>
          </a:p>
        </p:txBody>
      </p:sp>
      <p:sp>
        <p:nvSpPr>
          <p:cNvPr id="23" name="TextBox 22">
            <a:hlinkClick r:id="rId4"/>
          </p:cNvPr>
          <p:cNvSpPr txBox="1"/>
          <p:nvPr/>
        </p:nvSpPr>
        <p:spPr>
          <a:xfrm>
            <a:off x="6552000" y="3114000"/>
            <a:ext cx="2340000" cy="28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919" b="0">
                <a:solidFill>
                  <a:srgbClr val="1F5D7A"/>
                </a:solidFill>
                <a:latin typeface="Aptos"/>
              </a:rPr>
              <a:t>demo_draga_rada_radi_speecht5_hr.wav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2000" y="3438000"/>
            <a:ext cx="2340000" cy="28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850" b="0">
                <a:solidFill>
                  <a:srgbClr val="606C75"/>
                </a:solidFill>
                <a:latin typeface="Aptos"/>
              </a:rPr>
              <a:t>Klikni naziv datoteke ili pusti WAV iz mape audio_demo.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0000" y="4428000"/>
            <a:ext cx="8640000" cy="251999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950" b="0">
                <a:solidFill>
                  <a:srgbClr val="606C75"/>
                </a:solidFill>
                <a:latin typeface="Aptos"/>
              </a:rPr>
              <a:t>Mapa s demo snimkama: /mnt/d/audiorehabilitation/outputs/manual-20260613-ppt/presentations/audiorehab-results/output/audio_demo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Rezultat 4: slušna provjera na uravnoteženom uzorku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32000" y="1080000"/>
          <a:ext cx="8928000" cy="12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8400"/>
                <a:gridCol w="1071360"/>
                <a:gridCol w="1874880"/>
                <a:gridCol w="1874880"/>
                <a:gridCol w="1428480"/>
              </a:tblGrid>
              <a:tr h="306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TTS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N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razumljivost /5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prirodnost /5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ASR WER uzorka</a:t>
                      </a:r>
                    </a:p>
                  </a:txBody>
                  <a:tcPr>
                    <a:solidFill>
                      <a:srgbClr val="1F5D7A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Coqui VITS HR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2,15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2,10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1,233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eSpeak NG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20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4,65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3,30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0,967</a:t>
                      </a:r>
                    </a:p>
                  </a:txBody>
                  <a:tcPr>
                    <a:solidFill>
                      <a:srgbClr val="F1F6F8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SpeechT5 HR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3,35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3,60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A343D"/>
                          </a:solidFill>
                          <a:latin typeface="Aptos"/>
                        </a:rPr>
                        <a:t>0,958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0000" y="2700000"/>
            <a:ext cx="2700000" cy="136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0000" y="2700000"/>
            <a:ext cx="64800" cy="1368000"/>
          </a:xfrm>
          <a:prstGeom prst="rect">
            <a:avLst/>
          </a:prstGeom>
          <a:solidFill>
            <a:srgbClr val="4F9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5999" y="2790000"/>
            <a:ext cx="2466000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Najrazumljiviji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5999" y="3042000"/>
            <a:ext cx="2466000" cy="990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400" b="0">
                <a:solidFill>
                  <a:srgbClr val="2A343D"/>
                </a:solidFill>
                <a:latin typeface="Aptos"/>
              </a:rPr>
              <a:t>eSpeak NG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400" b="0">
                <a:solidFill>
                  <a:srgbClr val="2A343D"/>
                </a:solidFill>
                <a:latin typeface="Aptos"/>
              </a:rPr>
              <a:t>prosjek 4,65/5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400" b="0">
                <a:solidFill>
                  <a:srgbClr val="2A343D"/>
                </a:solidFill>
                <a:latin typeface="Aptos"/>
              </a:rPr>
              <a:t>medijan 5/5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4000" y="2700000"/>
            <a:ext cx="2700000" cy="136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64000" y="2700000"/>
            <a:ext cx="64800" cy="1368000"/>
          </a:xfrm>
          <a:prstGeom prst="rect">
            <a:avLst/>
          </a:prstGeom>
          <a:solidFill>
            <a:srgbClr val="22A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89999" y="2790000"/>
            <a:ext cx="2466000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Najprirodniji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9999" y="3042000"/>
            <a:ext cx="2466000" cy="990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400" b="0">
                <a:solidFill>
                  <a:srgbClr val="2A343D"/>
                </a:solidFill>
                <a:latin typeface="Aptos"/>
              </a:rPr>
              <a:t>SpeechT5 HR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400" b="0">
                <a:solidFill>
                  <a:srgbClr val="2A343D"/>
                </a:solidFill>
                <a:latin typeface="Aptos"/>
              </a:rPr>
              <a:t>prosjek 3,60/5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400" b="0">
                <a:solidFill>
                  <a:srgbClr val="2A343D"/>
                </a:solidFill>
                <a:latin typeface="Aptos"/>
              </a:rPr>
              <a:t>medijan 4/5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8000" y="2700000"/>
            <a:ext cx="2700000" cy="136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8000" y="2700000"/>
            <a:ext cx="64800" cy="1368000"/>
          </a:xfrm>
          <a:prstGeom prst="rect">
            <a:avLst/>
          </a:prstGeom>
          <a:solidFill>
            <a:srgbClr val="B7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13999" y="2790000"/>
            <a:ext cx="2466000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Najslabiji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13999" y="3042000"/>
            <a:ext cx="2466000" cy="990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400" b="0">
                <a:solidFill>
                  <a:srgbClr val="2A343D"/>
                </a:solidFill>
                <a:latin typeface="Aptos"/>
              </a:rPr>
              <a:t>Coqui VITS HR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400" b="0">
                <a:solidFill>
                  <a:srgbClr val="2A343D"/>
                </a:solidFill>
                <a:latin typeface="Aptos"/>
              </a:rPr>
              <a:t>niža razumljivost i prirodnost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400" b="0">
                <a:solidFill>
                  <a:srgbClr val="2A343D"/>
                </a:solidFill>
                <a:latin typeface="Aptos"/>
              </a:rPr>
              <a:t>u ovom materijalu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44800"/>
            <a:ext cx="9792000" cy="36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2000" b="1">
                <a:solidFill>
                  <a:srgbClr val="1F5D7A"/>
                </a:solidFill>
                <a:latin typeface="Aptos"/>
              </a:rPr>
              <a:t>Što je ostvareno, što nije i sljedeći koraci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74000" y="165600"/>
            <a:ext cx="432000" cy="198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5D7A"/>
                </a:solidFill>
                <a:latin typeface="Aptos"/>
              </a:rP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6498000"/>
            <a:ext cx="5040000" cy="180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606C75"/>
                </a:solidFill>
                <a:latin typeface="Aptos"/>
              </a:rPr>
              <a:t>Računalna obrada govora i jezika · diplomski studij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91200"/>
            <a:ext cx="9792000" cy="14400"/>
          </a:xfrm>
          <a:prstGeom prst="rect">
            <a:avLst/>
          </a:prstGeom>
          <a:solidFill>
            <a:srgbClr val="E0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0000" y="972000"/>
            <a:ext cx="2772000" cy="223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0000" y="972000"/>
            <a:ext cx="64800" cy="2232000"/>
          </a:xfrm>
          <a:prstGeom prst="rect">
            <a:avLst/>
          </a:prstGeom>
          <a:solidFill>
            <a:srgbClr val="4F94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5999" y="1062000"/>
            <a:ext cx="2538000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Ostvareno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5999" y="1314000"/>
            <a:ext cx="2538000" cy="1854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2A343D"/>
                </a:solidFill>
                <a:latin typeface="Aptos"/>
              </a:rPr>
              <a:t>• reprodukcija ideje iz literature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2A343D"/>
                </a:solidFill>
                <a:latin typeface="Aptos"/>
              </a:rPr>
              <a:t>• deterministički hrvatski fonemizator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2A343D"/>
                </a:solidFill>
                <a:latin typeface="Aptos"/>
              </a:rPr>
              <a:t>• CSV/Markdown izvještaji i PCD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2A343D"/>
                </a:solidFill>
                <a:latin typeface="Aptos"/>
              </a:rPr>
              <a:t>• ChatGPT vs. Ollama usporedba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2A343D"/>
                </a:solidFill>
                <a:latin typeface="Aptos"/>
              </a:rPr>
              <a:t>• HJP word-review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2A343D"/>
                </a:solidFill>
                <a:latin typeface="Aptos"/>
              </a:rPr>
              <a:t>• 3 TTS sustava + ASR + slušna provjera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91999" y="972000"/>
            <a:ext cx="2772000" cy="223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91999" y="972000"/>
            <a:ext cx="64800" cy="2232000"/>
          </a:xfrm>
          <a:prstGeom prst="rect">
            <a:avLst/>
          </a:prstGeom>
          <a:solidFill>
            <a:srgbClr val="D88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7998" y="1062000"/>
            <a:ext cx="2538000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Nije ostvareno / ograničenja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7998" y="1314000"/>
            <a:ext cx="2538000" cy="1854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2A343D"/>
                </a:solidFill>
                <a:latin typeface="Aptos"/>
              </a:rPr>
              <a:t>• nije klinički odobren materijal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2A343D"/>
                </a:solidFill>
                <a:latin typeface="Aptos"/>
              </a:rPr>
              <a:t>• ChatGPT Plus je ručni, ne API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2A343D"/>
                </a:solidFill>
                <a:latin typeface="Aptos"/>
              </a:rPr>
              <a:t>• HJP nije automatski scrap-an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2A343D"/>
                </a:solidFill>
                <a:latin typeface="Aptos"/>
              </a:rPr>
              <a:t>• slušna provjera ima jednog recenzenta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2A343D"/>
                </a:solidFill>
                <a:latin typeface="Aptos"/>
              </a:rPr>
              <a:t>• ASR je proxy, ne dokaz izgovora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23999" y="972000"/>
            <a:ext cx="2772000" cy="223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F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23999" y="972000"/>
            <a:ext cx="64800" cy="2232000"/>
          </a:xfrm>
          <a:prstGeom prst="rect">
            <a:avLst/>
          </a:prstGeom>
          <a:solidFill>
            <a:srgbClr val="1F5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49998" y="1062000"/>
            <a:ext cx="2538000" cy="21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5D7A"/>
                </a:solidFill>
                <a:latin typeface="Aptos"/>
              </a:rPr>
              <a:t>Problemi i rješenja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9998" y="1314000"/>
            <a:ext cx="2538000" cy="1854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2A343D"/>
                </a:solidFill>
                <a:latin typeface="Aptos"/>
              </a:rPr>
              <a:t>• LLM ne zna pouzdano brojati foneme → Python validacija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2A343D"/>
                </a:solidFill>
                <a:latin typeface="Aptos"/>
              </a:rPr>
              <a:t>• duplikati → detekcija i izvještaj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2A343D"/>
                </a:solidFill>
                <a:latin typeface="Aptos"/>
              </a:rPr>
              <a:t>• lokalni modeli slabi → odvojena usporedba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1150" b="0">
                <a:solidFill>
                  <a:srgbClr val="2A343D"/>
                </a:solidFill>
                <a:latin typeface="Aptos"/>
              </a:rPr>
              <a:t>• TTS formati različiti → normalizacija WAV-a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000" y="3671999"/>
            <a:ext cx="8496000" cy="396000"/>
          </a:xfrm>
          <a:prstGeom prst="rect">
            <a:avLst/>
          </a:prstGeom>
          <a:noFill/>
        </p:spPr>
        <p:txBody>
          <a:bodyPr wrap="none" lIns="18000" rIns="18000" tIns="18000" bIns="18000" anchor="t">
            <a:spAutoFit/>
          </a:bodyPr>
          <a:lstStyle/>
          <a:p>
            <a:pPr algn="ctr"/>
            <a:r>
              <a:rPr sz="1400" b="1">
                <a:solidFill>
                  <a:srgbClr val="1F5D7A"/>
                </a:solidFill>
                <a:latin typeface="Aptos"/>
              </a:rPr>
              <a:t>Zaključak: pipeline je reproducibilan i pokazuje da generiranje materijala može pomoći, ali konačna lingvistička i klinička odluka ostaje na čovjeku.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1372</TotalTime>
  <Words>1435</Words>
  <Application>Microsoft Office PowerPoint</Application>
  <PresentationFormat>Widescreen</PresentationFormat>
  <Paragraphs>182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Arial</vt:lpstr>
      <vt:lpstr>Calibri</vt:lpstr>
      <vt:lpstr>Cambria Math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Računalna obrada govora i jezika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ROGJ tema 16</dc:title>
  <dc:subject>Evaluacija jezičnih generativnih modela za potrebe audiorehabilitacije</dc:subject>
  <dc:creator>OpenAI</dc:creator>
  <cp:lastModifiedBy>Denis Ibiši</cp:lastModifiedBy>
  <cp:revision>37</cp:revision>
  <dcterms:created xsi:type="dcterms:W3CDTF">2026-04-24T12:28:30Z</dcterms:created>
  <dcterms:modified xsi:type="dcterms:W3CDTF">2026-04-26T22:18:15Z</dcterms:modified>
</cp:coreProperties>
</file>