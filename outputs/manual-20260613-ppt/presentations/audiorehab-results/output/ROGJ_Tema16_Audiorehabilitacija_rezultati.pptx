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791700" cy="5508625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731" autoAdjust="0"/>
  </p:normalViewPr>
  <p:slideViewPr>
    <p:cSldViewPr snapToGrid="0" snapToObjects="1">
      <p:cViewPr varScale="1">
        <p:scale>
          <a:sx n="59" d="100"/>
          <a:sy n="59" d="100"/>
        </p:scale>
        <p:origin x="77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hr-HR" sz="1100"/>
              <a:t>Riječi po razini zasićenja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riječi: teh. valjano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  <c:pt idx="4">
                  <c:v>80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18.2</c:v>
                </c:pt>
                <c:pt idx="2">
                  <c:v>14.5</c:v>
                </c:pt>
                <c:pt idx="3">
                  <c:v>36.4</c:v>
                </c:pt>
                <c:pt idx="4">
                  <c:v>52.7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2CB-4C67-A261-F090747BD4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riječi: SL prolaz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  <c:pt idx="4">
                  <c:v>80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92.7</c:v>
                </c:pt>
                <c:pt idx="3">
                  <c:v>89.1</c:v>
                </c:pt>
                <c:pt idx="4">
                  <c:v>98.2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2CB-4C67-A261-F090747BD4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hr-HR" sz="1100"/>
              <a:t>Rečenice po razini zasićenja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rečenice: teh. valjano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50</c:v>
                </c:pt>
                <c:pt idx="1">
                  <c:v>70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97.1</c:v>
                </c:pt>
                <c:pt idx="1">
                  <c:v>68.599999999999994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BA7-4812-A44D-CC77F0400C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rečenice: SL prolaz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50</c:v>
                </c:pt>
                <c:pt idx="1">
                  <c:v>70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97.1</c:v>
                </c:pt>
                <c:pt idx="1">
                  <c:v>76.2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BA7-4812-A44D-CC77F0400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hr-HR" sz="1100"/>
              <a:t>Ukupna usporedba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tehnički valjano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48.6</c:v>
                </c:pt>
                <c:pt idx="1">
                  <c:v>4.5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C1A-4245-99B3-DFB4300006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 prolaz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85.9</c:v>
                </c:pt>
                <c:pt idx="1">
                  <c:v>4.5999999999999996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C1A-4245-99B3-DFB4300006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Hunspell</c:v>
                </c:pt>
              </c:strCache>
            </c:strRef>
          </c:tx>
          <c:spPr>
            <a:solidFill>
              <a:srgbClr val="1F5D7A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95.4</c:v>
                </c:pt>
                <c:pt idx="1">
                  <c:v>76.8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8C1A-4245-99B3-DFB4300006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pl-PL" sz="1100"/>
              <a:t>Niže je bolje; skala radi prikaza ×100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WER ×100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118.7</c:v>
                </c:pt>
                <c:pt idx="1">
                  <c:v>107.6</c:v>
                </c:pt>
                <c:pt idx="2">
                  <c:v>96.7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BA9-4178-9A7E-A8AA7E918D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 ×100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69.3</c:v>
                </c:pt>
                <c:pt idx="1">
                  <c:v>44.3</c:v>
                </c:pt>
                <c:pt idx="2">
                  <c:v>43.8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BA9-4178-9A7E-A8AA7E918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audio_demo/demo_draga_rada_radi_coqui_vits_hr.wav" TargetMode="External"/><Relationship Id="rId2" Type="http://schemas.openxmlformats.org/officeDocument/2006/relationships/hyperlink" Target="audio_demo/demo_draga_rada_radi_espeak_ng.wa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audio_demo/demo_draga_rada_radi_speecht5_hr.wav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72000"/>
            <a:ext cx="9792000" cy="75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800" b="1">
                <a:solidFill>
                  <a:srgbClr val="1F5D7A"/>
                </a:solidFill>
                <a:latin typeface="Aptos"/>
              </a:rPr>
              <a:t>Evaluacija jezičnih generativnih modela</a:t>
            </a:r>
            <a:br/>
            <a:r>
              <a:rPr sz="2800" b="1">
                <a:solidFill>
                  <a:srgbClr val="1F5D7A"/>
                </a:solidFill>
                <a:latin typeface="Aptos"/>
              </a:rPr>
              <a:t>za potrebe audiorehabilitacije</a:t>
            </a:r>
          </a:p>
        </p:txBody>
      </p:sp>
      <p:sp>
        <p:nvSpPr>
          <p:cNvPr id="3" name="Oval 2"/>
          <p:cNvSpPr/>
          <p:nvPr/>
        </p:nvSpPr>
        <p:spPr>
          <a:xfrm>
            <a:off x="720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LLM</a:t>
            </a:r>
          </a:p>
        </p:txBody>
      </p:sp>
      <p:sp>
        <p:nvSpPr>
          <p:cNvPr id="5" name="Oval 4"/>
          <p:cNvSpPr/>
          <p:nvPr/>
        </p:nvSpPr>
        <p:spPr>
          <a:xfrm>
            <a:off x="2484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40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fonemi</a:t>
            </a:r>
          </a:p>
        </p:txBody>
      </p:sp>
      <p:sp>
        <p:nvSpPr>
          <p:cNvPr id="7" name="Oval 6"/>
          <p:cNvSpPr/>
          <p:nvPr/>
        </p:nvSpPr>
        <p:spPr>
          <a:xfrm>
            <a:off x="4248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04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validacija</a:t>
            </a:r>
          </a:p>
        </p:txBody>
      </p:sp>
      <p:sp>
        <p:nvSpPr>
          <p:cNvPr id="9" name="Oval 8"/>
          <p:cNvSpPr/>
          <p:nvPr/>
        </p:nvSpPr>
        <p:spPr>
          <a:xfrm>
            <a:off x="6012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68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TTS</a:t>
            </a:r>
          </a:p>
        </p:txBody>
      </p:sp>
      <p:sp>
        <p:nvSpPr>
          <p:cNvPr id="11" name="Oval 10"/>
          <p:cNvSpPr/>
          <p:nvPr/>
        </p:nvSpPr>
        <p:spPr>
          <a:xfrm>
            <a:off x="7776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2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6246000"/>
            <a:ext cx="1620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r"/>
            <a:r>
              <a:rPr sz="1200" b="0">
                <a:solidFill>
                  <a:srgbClr val="606C75"/>
                </a:solidFill>
                <a:latin typeface="Aptos"/>
              </a:rPr>
              <a:t>Denis Ibiši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Motivacija: zašto baš fonetski kontroliran materijal?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8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8000" y="1512000"/>
            <a:ext cx="64800" cy="144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3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Slušni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 audiorehabilitaciji često se vježbaju kontrasti koje korisnik teško razlikuje.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Primjer: /s/ i /š/, /č/ i /ć/, /nj/ i /lj/.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00000" y="1512000"/>
            <a:ext cx="64800" cy="144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5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Kontrolirani tekst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5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Treba znati koliko je ciljanih fonema u riječi ili rečenici.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Zato uvodimo klase fonema i postotak zasićenja.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2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32000" y="1512000"/>
            <a:ext cx="64800" cy="144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7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vježbe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Tekst se smije pretvoriti u zvuk tek nakon validacije.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 je zadnji korak, ne dokaz kvalitete.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Istraživačko pitanje i doprinos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422000"/>
            <a:ext cx="16991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li LLM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generirati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hrvatske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rečenice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s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traženim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fonemskim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zasićenjem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4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64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422000"/>
            <a:ext cx="17639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Možemo li sve provjeriti deterministički, bez vjerovanja modelu?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6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6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22000"/>
            <a:ext cx="18359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 err="1">
                <a:solidFill>
                  <a:srgbClr val="2A343D"/>
                </a:solidFill>
                <a:latin typeface="Aptos"/>
              </a:rPr>
              <a:t>Može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li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validirani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tekst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postati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tehnički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ispravan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audio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materijal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28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695B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4000" y="1422000"/>
            <a:ext cx="1763999" cy="33797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Koji je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izvor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bolji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Plus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lokalni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520000"/>
            <a:ext cx="8280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000" y="2520000"/>
            <a:ext cx="64800" cy="14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999" y="2610000"/>
            <a:ext cx="804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600" b="1">
                <a:solidFill>
                  <a:srgbClr val="1F5D7A"/>
                </a:solidFill>
                <a:latin typeface="Aptos"/>
              </a:rPr>
              <a:t>Glavna metodološka odluka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999" y="2862000"/>
            <a:ext cx="8046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ne broji foneme i ne odlučuje je li kandidat valjan.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samo predlaže tekst. Python fonemizira, računa zasićenje, pronalazi duplikate, provjerava duljinu i generira CSV/Markdown izvještaje.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Veza s radom Andrijašević i Vukelić (MIPRO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64800" cy="16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preuzimamo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hrvatski materijal za auditivni trening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pet fonemskih klasa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zasićenje ciljnom klasom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riječi i kratke rečenice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1080000"/>
            <a:ext cx="64800" cy="162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mijenjamo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validacija nije u rukama LLM-a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sve ide kroz Python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spremamo sirove odgovore, CSV i izvještaje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dodajemo PCD, TTS, ASR i slušnu provjeru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62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uspoređujemo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reprodukcija paper-style promptova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ChatGPT Plus vs. Ollama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vs. strict_plain_list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eSpeak, Coqui i SpeechT5 za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456000"/>
            <a:ext cx="8280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400" b="1">
                <a:solidFill>
                  <a:srgbClr val="B74F4F"/>
                </a:solidFill>
                <a:latin typeface="Aptos"/>
              </a:rPr>
              <a:t>Važno: HJP u promptu nije dokaz. HJP valjanost je odvojena ručna / riječ-po-riječ provjera.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Fonemski zahtjevi: pet klasa i formula zasićenja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000" y="1080000"/>
          <a:ext cx="5256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Fonemi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N / Niski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m, n, nj, b, p,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SN / Srednjeniski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v, g, o, h, l, lj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 / Srednji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a, k, r, d, dž, f, 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SV / Srednjevisoki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č, e, š, t, đ, 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 / Visoki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ć, i, c, z,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0000" y="1080000"/>
            <a:ext cx="3131999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0000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5999" y="1170000"/>
            <a:ext cx="2897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999" y="1422000"/>
            <a:ext cx="2897999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zasićenje = broj fonema ciljne klase / ukupan broj fonema × 100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3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Parser najprije prepoznaje dž, lj i nj kao jedan fonem.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3348000"/>
            <a:ext cx="6983999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40000" y="3348000"/>
            <a:ext cx="64800" cy="7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65999" y="3438000"/>
            <a:ext cx="6749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Primjer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5999" y="3690000"/>
            <a:ext cx="6749999" cy="3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„puno banana u panju” → p u n o b a n a n a u p a nj 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`nj` se broji kao jedan fonem, razmaci se ne broje.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Implementirani postupak: generiranje + deterministička validacija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394000"/>
            <a:ext cx="1242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klasa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zasićenje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tip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teksta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1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1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000" y="2394000"/>
            <a:ext cx="1242000" cy="47493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Plus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generira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kandidate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4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4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fonemizator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2394000"/>
            <a:ext cx="1242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normalizacija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+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dž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/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lj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/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nj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longest-match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validacija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8000" y="2394000"/>
            <a:ext cx="1242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>
                <a:solidFill>
                  <a:srgbClr val="2A343D"/>
                </a:solidFill>
                <a:latin typeface="Aptos"/>
              </a:rPr>
              <a:t>SL,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znakovi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3–5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duplikati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leksika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Hunspell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+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ručni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HJP word-review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3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izvještaj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8000" y="2394000"/>
            <a:ext cx="1242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CSV, Markdown, tablice, greške, PCD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3600000"/>
            <a:ext cx="828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Sva čitanja i pisanja CSV-a rade u UTF-8, tako da se čuvaju č, ć, đ, š, ž i fonemi dž/lj/nj.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Dizajn eksperimenata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72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Reprodukcija 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Riječi: 5 klasa × 5 SL × 11 = 275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Rečenice: 5 klasa × 2 SL × 21 = 210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Prompt: paper_style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Izvor: ChatGPT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87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Task 16 usporedba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5 klasa × 2 SL × 2 tipa × 2 prompta × 20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ChatGPT Plus: 797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Ollama: 757 kandidata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87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faza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TTS-ready skup: 355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Uravnoteženi TTS podskup: 96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Sinteza: eSpeak NG, Coqui VITS HR, SpeechT5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491999"/>
            <a:ext cx="756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200" b="0">
                <a:solidFill>
                  <a:srgbClr val="606C75"/>
                </a:solidFill>
                <a:latin typeface="Aptos"/>
              </a:rPr>
              <a:t>SL = saturation level / prag zasićenja ciljnom fonemskom klasom.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1: reprodukcija paper-style eksperimenta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96000" y="1080000"/>
          <a:ext cx="4392000" cy="21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112000" y="1080000"/>
          <a:ext cx="4176000" cy="21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" y="3600000"/>
            <a:ext cx="8712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3600000"/>
            <a:ext cx="64800" cy="72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999" y="3690000"/>
            <a:ext cx="847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Zaključak prema paperu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99" y="3942000"/>
            <a:ext cx="8478000" cy="3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Kod rečenica se vidi očekivani pad na 70 %. Kod riječi pad nije potpuno monoton jer su neke skupine jako pogođene duplikatima. Problematične su visoke/SV skupine i visoka zasićenja.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2: ChatGPT Plus vs. lokalni 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3999" y="1080000"/>
          <a:ext cx="4500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0" y="1206000"/>
          <a:ext cx="3888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valid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glavne greške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48,6 %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duplikati=361; SL=112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757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4,5 %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SL=722; broj riječi=195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0" y="2628000"/>
            <a:ext cx="3888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0" y="2628000"/>
            <a:ext cx="64800" cy="1007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25999" y="2718000"/>
            <a:ext cx="3654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Interpretacija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5999" y="2970000"/>
            <a:ext cx="3654000" cy="629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30" b="0">
                <a:solidFill>
                  <a:srgbClr val="2A343D"/>
                </a:solidFill>
                <a:latin typeface="Aptos"/>
              </a:rPr>
              <a:t>ChatGPT Plus najčešće razumije fonemski zadatak, ali se ponavlja. Ollama uglavnom ne pogađa ciljno zasićenje, pa nije dovoljno pouzdan u ovoj konfiguraciji.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najčešće pošlo krivo?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0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50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ChatGPT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502000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duplikati.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strict_plain_list za riječi: 188 duplikata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za riječi: 71,5 % tehnički valjano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saturacija uglavnom dobra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8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8000" y="1080000"/>
            <a:ext cx="64800" cy="1800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3999" y="1170000"/>
            <a:ext cx="250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3999" y="1422000"/>
            <a:ext cx="2502000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fonetski kriterij.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722 kandidata pala su na zasićenju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195 pogrešan broj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lokalni model ne broji foneme pouzdano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50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Lekcija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502000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Prompt nije validacija.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I kad tekst izgleda hrvatski, može pasti na fonemima, duplikatima, HJP-u ili strukturi rečenice.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600000"/>
            <a:ext cx="8280000" cy="32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Rješenje: model generira više kandidata nego što treba, a Python prihvaća samo one koji prođu pravila.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Leksička provjera: Hunspell nije HJP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3999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1188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1F5D7A"/>
                </a:solidFill>
                <a:latin typeface="Aptos"/>
              </a:rPr>
              <a:t>797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999" y="1458000"/>
            <a:ext cx="1872000" cy="33797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Plus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kandidata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u Task 16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skupu</a:t>
            </a:r>
            <a:endParaRPr sz="98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00000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00000" y="1188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776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6000" y="1458000"/>
            <a:ext cx="1836000" cy="33797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HJP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valjano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nakon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word-level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propagacije</a:t>
            </a:r>
            <a:endParaRPr sz="98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896000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6000" y="1188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B74F4F"/>
                </a:solidFill>
                <a:latin typeface="Aptos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58000"/>
            <a:ext cx="1836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HJP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nevaljano</a:t>
            </a:r>
            <a:endParaRPr sz="98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092000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92000" y="1188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0" y="1458000"/>
            <a:ext cx="1836000" cy="33797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 err="1">
                <a:solidFill>
                  <a:srgbClr val="2A343D"/>
                </a:solidFill>
                <a:latin typeface="Aptos"/>
              </a:rPr>
              <a:t>tehnički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+ HJP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valjan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TTS-ready pool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000" y="2664000"/>
            <a:ext cx="820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2000" y="2664000"/>
            <a:ext cx="64800" cy="108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7999" y="2754000"/>
            <a:ext cx="7974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Kako je riješeno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999" y="3006000"/>
            <a:ext cx="7974000" cy="70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20" b="0" dirty="0" err="1">
                <a:solidFill>
                  <a:srgbClr val="2A343D"/>
                </a:solidFill>
                <a:latin typeface="Aptos"/>
              </a:rPr>
              <a:t>Izvozimo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jedinstvene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normalizirane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u CSV.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Ručno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označim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hjp_valid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= yes/no/unsure. Za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rečenicu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kandidat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vrijedi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samo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ako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su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sve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označene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kao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HJP-valid.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20" b="0" dirty="0" err="1">
                <a:solidFill>
                  <a:srgbClr val="2A343D"/>
                </a:solidFill>
                <a:latin typeface="Aptos"/>
              </a:rPr>
              <a:t>Hunspell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je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samo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automatski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leksički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screening, a ne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konačna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lingvistička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klinička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2A343D"/>
                </a:solidFill>
                <a:latin typeface="Aptos"/>
              </a:rPr>
              <a:t>validacija</a:t>
            </a:r>
            <a:r>
              <a:rPr sz="122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faza: isti tekst,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655999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Ulaz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Samo kandidati koji su prošli: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tehničku validaciju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Hunspell screening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ručni HJP word-review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655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TTS sustavi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 NG, hrvatski glas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SpeechT5 HR lokalni model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dobivaju isti skup tekstova.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655999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Izlaz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WAV-ovi normalizirani su na: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mono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 kHz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16-bit PCM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Zatim ide ASR i slušna provjera.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491999"/>
            <a:ext cx="8496000" cy="32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250" b="0">
                <a:solidFill>
                  <a:srgbClr val="606C75"/>
                </a:solidFill>
                <a:latin typeface="Aptos"/>
              </a:rPr>
              <a:t>Uravnoteženi TTS podskup: 96 kandidata; skupina S / 70 % / riječ imala je samo 1 dostupni validirani kandidat.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3: tehnička TTS provjera i ASR WER/CER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sintetizirano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format OK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CER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1,076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0,443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0,967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0000" y="2628000"/>
          <a:ext cx="3780000" cy="1655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40000" y="2664000"/>
            <a:ext cx="4031999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40000" y="2664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5999" y="2754000"/>
            <a:ext cx="3797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Caveat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5999" y="3006000"/>
            <a:ext cx="3797999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ASR WER/CER je relativni proxy za razumljivost, nije klinički dokaz izgovora. Visok WER može doći od TTS-a, ASR-a ili neobičnog fonemskog sastava materijala.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demo: ista rečenica kroz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3999" y="1007999"/>
            <a:ext cx="8856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3999" y="1007999"/>
            <a:ext cx="64800" cy="72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9998" y="1097999"/>
            <a:ext cx="86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Tekst za usporedbu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998" y="1349999"/>
            <a:ext cx="8622000" cy="3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Sva tri audio primjera koriste isti kandidat: „Draga rada radi.”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Kopije su pojačane samo za prezentaciju, posebno zbog tišeg SpeechT5 izlaza.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eSpeak NG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648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demo_draga_rada_radi_espeak_ng.wav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438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0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6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Coqui VITS HR</a:t>
            </a:r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3600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demo_draga_rada_radi_coqui_vits_hr.wav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3438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2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SpeechT5 HR</a:t>
            </a:r>
          </a:p>
        </p:txBody>
      </p:sp>
      <p:sp>
        <p:nvSpPr>
          <p:cNvPr id="23" name="TextBox 22">
            <a:hlinkClick r:id="rId4"/>
          </p:cNvPr>
          <p:cNvSpPr txBox="1"/>
          <p:nvPr/>
        </p:nvSpPr>
        <p:spPr>
          <a:xfrm>
            <a:off x="6552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demo_draga_rada_radi_speecht5_hr.wav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3438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428000"/>
            <a:ext cx="8640000" cy="251999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50" b="0">
                <a:solidFill>
                  <a:srgbClr val="606C75"/>
                </a:solidFill>
                <a:latin typeface="Aptos"/>
              </a:rPr>
              <a:t>Mapa s demo snimkama: /mnt/d/audiorehabilitation/outputs/manual-20260613-ppt/presentations/audiorehab-results/output/audio_demo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4: slušna provjera na uravnoteženom uzorku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razumljivost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prirodnost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 uzorka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4,65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0000" y="2700000"/>
            <a:ext cx="64800" cy="1368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Najrazumljiviji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eSpeak 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4,65/5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5/5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4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4000" y="2700000"/>
            <a:ext cx="64800" cy="136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9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Najprirodniji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SpeechT5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3,60/5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4/5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8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8000" y="2700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13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Najslabiji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3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niža razumljivost i prirodnost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u ovom materijalu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ostvareno, što nije i sljedeći koraci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3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Ostvareno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reprodukcija ideje iz literature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deterministički hrvatski fonemizator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CSV/Markdown izvještaji i PCD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vs. Ollama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word-review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3 TTS sustava + ASR + slušna provjera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3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Nije ostvareno / ograničenja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nije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klinički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odobren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materijal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Plus je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ručni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, ne API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HJP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nije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automatski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scrap-an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slušna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provjera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ima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jednog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recenzenta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ASR je proxy, ne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dokaz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izgovora</a:t>
            </a:r>
            <a:endParaRPr sz="11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3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Problemi i rješenja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LLM ne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zna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pouzdano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brojati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foneme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→ Python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validacija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duplikati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→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detekcija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izvještaj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lokalni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modeli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slabi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→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odvojena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usporedba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TTS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formati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različiti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→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normalizacija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WAV-a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671999"/>
            <a:ext cx="8301600" cy="4672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400" b="1" dirty="0" err="1">
                <a:solidFill>
                  <a:srgbClr val="1F5D7A"/>
                </a:solidFill>
                <a:latin typeface="Aptos"/>
              </a:rPr>
              <a:t>Zaključak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: pipeline je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reproducibilan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pokazuje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da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generiranje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materijala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može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pomoći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ali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konačna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lingvistička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klinička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odluka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ostaje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na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čovjeku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1392</TotalTime>
  <Words>1600</Words>
  <Application>Microsoft Office PowerPoint</Application>
  <PresentationFormat>Custom</PresentationFormat>
  <Paragraphs>296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Računalna obrada govora i jezika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ROGJ tema 16</dc:title>
  <dc:subject>Evaluacija jezičnih generativnih modela za potrebe audiorehabilitacije</dc:subject>
  <dc:creator>OpenAI</dc:creator>
  <cp:lastModifiedBy>Gaming 3</cp:lastModifiedBy>
  <cp:revision>38</cp:revision>
  <dcterms:created xsi:type="dcterms:W3CDTF">2026-04-24T12:28:30Z</dcterms:created>
  <dcterms:modified xsi:type="dcterms:W3CDTF">2026-06-13T10:34:06Z</dcterms:modified>
</cp:coreProperties>
</file>