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792000" cy="550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731" autoAdjust="0"/>
  </p:normalViewPr>
  <p:slideViewPr>
    <p:cSldViewPr snapToGrid="0" snapToObjects="1">
      <p:cViewPr varScale="1">
        <p:scale>
          <a:sx n="90" d="100"/>
          <a:sy n="90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Ukupna usporedba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tehnički valjano</c:v>
                </c:pt>
              </c:strCache>
            </c:strRef>
          </c:tx>
          <c:spPr>
            <a:solidFill>
              <a:srgbClr val="22A1B2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48.6</c:v>
                </c:pt>
                <c:pt idx="1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prolaz</c:v>
                </c:pt>
              </c:strCache>
            </c:strRef>
          </c:tx>
          <c:spPr>
            <a:solidFill>
              <a:srgbClr val="D88D3D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85.9</c:v>
                </c:pt>
                <c:pt idx="1">
                  <c:v>4.6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Hunspell</c:v>
                </c:pt>
              </c:strCache>
            </c:strRef>
          </c:tx>
          <c:spPr>
            <a:solidFill>
              <a:srgbClr val="1F5D7A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95.4</c:v>
                </c:pt>
                <c:pt idx="1">
                  <c:v>76.8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Niže je bolje; skala radi prikaza ×100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WER ×100</c:v>
                </c:pt>
              </c:strCache>
            </c:strRef>
          </c:tx>
          <c:spPr>
            <a:solidFill>
              <a:srgbClr val="22A1B2"/>
            </a:solidFill>
          </c:spPr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118.7</c:v>
                </c:pt>
                <c:pt idx="1">
                  <c:v>107.6</c:v>
                </c:pt>
                <c:pt idx="2">
                  <c:v>96.7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×100</c:v>
                </c:pt>
              </c:strCache>
            </c:strRef>
          </c:tx>
          <c:spPr>
            <a:solidFill>
              <a:srgbClr val="D88D3D"/>
            </a:solidFill>
          </c:spPr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69.3</c:v>
                </c:pt>
                <c:pt idx="1">
                  <c:v>44.3</c:v>
                </c:pt>
                <c:pt idx="2">
                  <c:v>43.8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audio_demo/demo_draga_rada_radi_espeak_ng.wav" TargetMode="External"/><Relationship Id="rId3" Type="http://schemas.openxmlformats.org/officeDocument/2006/relationships/hyperlink" Target="audio_demo/demo_draga_rada_radi_coqui_vits_hr.wav" TargetMode="External"/><Relationship Id="rId4" Type="http://schemas.openxmlformats.org/officeDocument/2006/relationships/hyperlink" Target="audio_demo/demo_draga_rada_radi_speecht5_hr.wav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72000"/>
            <a:ext cx="9792000" cy="75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800" b="1">
                <a:solidFill>
                  <a:srgbClr val="1F5D7A"/>
                </a:solidFill>
                <a:latin typeface="Aptos"/>
              </a:rPr>
              <a:t>Evaluacija jezičnih generativnih modela</a:t>
            </a:r>
            <a:br/>
            <a:r>
              <a:rPr sz="2800" b="1">
                <a:solidFill>
                  <a:srgbClr val="1F5D7A"/>
                </a:solidFill>
                <a:latin typeface="Aptos"/>
              </a:rPr>
              <a:t>za potrebe audiorehabilitacije</a:t>
            </a:r>
          </a:p>
        </p:txBody>
      </p:sp>
      <p:sp>
        <p:nvSpPr>
          <p:cNvPr id="3" name="Oval 2"/>
          <p:cNvSpPr/>
          <p:nvPr/>
        </p:nvSpPr>
        <p:spPr>
          <a:xfrm>
            <a:off x="720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LLM</a:t>
            </a:r>
          </a:p>
        </p:txBody>
      </p:sp>
      <p:sp>
        <p:nvSpPr>
          <p:cNvPr id="5" name="Oval 4"/>
          <p:cNvSpPr/>
          <p:nvPr/>
        </p:nvSpPr>
        <p:spPr>
          <a:xfrm>
            <a:off x="2484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40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fonemi</a:t>
            </a:r>
          </a:p>
        </p:txBody>
      </p:sp>
      <p:sp>
        <p:nvSpPr>
          <p:cNvPr id="7" name="Oval 6"/>
          <p:cNvSpPr/>
          <p:nvPr/>
        </p:nvSpPr>
        <p:spPr>
          <a:xfrm>
            <a:off x="4248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04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validacija</a:t>
            </a:r>
          </a:p>
        </p:txBody>
      </p:sp>
      <p:sp>
        <p:nvSpPr>
          <p:cNvPr id="9" name="Oval 8"/>
          <p:cNvSpPr/>
          <p:nvPr/>
        </p:nvSpPr>
        <p:spPr>
          <a:xfrm>
            <a:off x="6012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8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TTS</a:t>
            </a:r>
          </a:p>
        </p:txBody>
      </p:sp>
      <p:sp>
        <p:nvSpPr>
          <p:cNvPr id="11" name="Oval 10"/>
          <p:cNvSpPr/>
          <p:nvPr/>
        </p:nvSpPr>
        <p:spPr>
          <a:xfrm>
            <a:off x="7776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2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6246000"/>
            <a:ext cx="1620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r"/>
            <a:r>
              <a:rPr sz="1200" b="0">
                <a:solidFill>
                  <a:srgbClr val="606C75"/>
                </a:solidFill>
                <a:latin typeface="Aptos"/>
              </a:rPr>
              <a:t>Denis Ibiši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Motivacija: zašto baš fonetski kontroliran materijal?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8000" y="1512000"/>
            <a:ext cx="64800" cy="144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3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Slušni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 audiorehabilitaciji često se vježbaju kontrasti koje korisnik teško razlikuje.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Primjer: /s/ i /š/, /č/ i /ć/, /nj/ i /lj/.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0" y="1512000"/>
            <a:ext cx="64800" cy="144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5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Kontrolirani tekst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5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Treba znati koliko je ciljanih fonema u riječi ili rečenici.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Zato uvodimo klase fonema i postotak zasićenja.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2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32000" y="1512000"/>
            <a:ext cx="64800" cy="144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7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vježbe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Tekst se smije pretvoriti u zvuk tek nakon validacije.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 je zadnji korak, ne dokaz kvalitete.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Istraživačko pitanje i doprinos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 li LLM generirati hrvatske riječi i rečenice s traženim fonemskim zasićenjem?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4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Možemo li sve provjeriti deterministički, bez vjerovanja modelu?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6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 li validirani tekst postati tehnički ispravan audio materijal?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695B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4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Koji je izvor bolji: ChatGPT Plus ili lokalni Ollama?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520000"/>
            <a:ext cx="828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" y="2520000"/>
            <a:ext cx="64800" cy="14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999" y="2610000"/>
            <a:ext cx="804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5D7A"/>
                </a:solidFill>
                <a:latin typeface="Aptos"/>
              </a:rPr>
              <a:t>Glavna metodološka odluka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999" y="2862000"/>
            <a:ext cx="8046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ne broji foneme i ne odlučuje je li kandidat valjan.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samo predlaže tekst. Python fonemizira, računa zasićenje, pronalazi duplikate, provjerava duljinu i generira CSV/Markdown izvještaje.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Veza s radom Andrijašević i Vukelić (MIPRO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64800" cy="16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preuzimamo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hrvatski materijal za auditivni trening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pet fonemskih klasa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zasićenje ciljnom klasom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riječi i kratke rečenice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1080000"/>
            <a:ext cx="64800" cy="162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mijenjamo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validacija nije u rukama LLM-a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sve ide kroz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spremamo sirove odgovore, CSV i izvještaje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dodajemo PCD, TTS, ASR i slušnu provjeru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62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uspoređujemo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reprodukcija paper-style promptova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ChatGPT Plus vs. Ollama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vs. strict_plain_list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eSpeak, Coqui i SpeechT5 za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456000"/>
            <a:ext cx="8280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B74F4F"/>
                </a:solidFill>
                <a:latin typeface="Aptos"/>
              </a:rPr>
              <a:t>Važno: HJP u promptu nije dokaz. HJP valjanost je odvojena ručna / riječ-po-riječ provjera.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Fonemski zahtjevi: pet klasa i formula zasićenja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000" y="1080000"/>
          <a:ext cx="5256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20"/>
                <a:gridCol w="357408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Fonemi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N / Niski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m, n, nj, b, p,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SN / Srednjeniski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v, g, o, h, l, lj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 / Srednji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a, k, r, d, dž, f, 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SV / Srednjevisoki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č, e, š, t, đ, 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 / Visoki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ć, i, c, z,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0000" y="1080000"/>
            <a:ext cx="3131999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0000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999" y="1170000"/>
            <a:ext cx="2897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999" y="1422000"/>
            <a:ext cx="2897999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zasićenje = broj fonema ciljne klase / ukupan broj fonema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Parser najprije prepoznaje dž, lj i nj kao jedan fonem.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3348000"/>
            <a:ext cx="6983999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0000" y="3348000"/>
            <a:ext cx="64800" cy="7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65999" y="3438000"/>
            <a:ext cx="6749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Primjer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5999" y="3690000"/>
            <a:ext cx="6749999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„puno banana u panju” → p u n o b a n a n a u p a nj 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`nj` se broji kao jedan fonem, razmaci se ne broje.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Implementirani postupak: generiranje + deterministička validacija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klasa, zasićenje, tip teksta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1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ChatGPT Plus ili Ollama generira kandidate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fonemizator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normalizacija + dž/lj/nj longest-match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validacija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SL, znakovi, 3–5 riječi, duplikati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leksika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Hunspell + ručni HJP word-review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izvještaj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CSV, Markdown, tablice, greške, PCD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3600000"/>
            <a:ext cx="828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Sva čitanja i pisanja CSV-a rade u UTF-8, tako da se čuvaju č, ć, đ, š, ž i fonemi dž/lj/nj.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Dizajn eksperimenata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72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Reprodukcija 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Riječi: 5 klasa × 5 SL × 11 = 275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Rečenice: 5 klasa × 2 SL × 21 = 210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Prompt: paper_style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Izvor: ChatGPT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87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Task 16 usporedba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5 klasa × 2 SL × 2 tipa × 2 prompta × 20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ChatGPT Plus: 797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Ollama: 757 kandidata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87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faza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TTS-ready skup: 355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Uravnoteženi TTS podskup: 96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Sinteza: eSpeak NG, Coqui VITS HR, SpeechT5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491999"/>
            <a:ext cx="756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606C75"/>
                </a:solidFill>
                <a:latin typeface="Aptos"/>
              </a:rPr>
              <a:t>SL = saturation level / prag zasićenja ciljnom fonemskom klasom.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riječi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080000"/>
          <a:ext cx="4356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/>
                <a:gridCol w="679536"/>
                <a:gridCol w="679536"/>
                <a:gridCol w="679536"/>
                <a:gridCol w="679536"/>
                <a:gridCol w="679536"/>
              </a:tblGrid>
              <a:tr h="267428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45,45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32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76000" y="1080000"/>
          <a:ext cx="4356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/>
                <a:gridCol w="679536"/>
                <a:gridCol w="679536"/>
                <a:gridCol w="679536"/>
                <a:gridCol w="679536"/>
                <a:gridCol w="679536"/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" y="3311999"/>
            <a:ext cx="871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3311999"/>
            <a:ext cx="64800" cy="97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99" y="3401999"/>
            <a:ext cx="847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riječi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99" y="3653999"/>
            <a:ext cx="8478000" cy="5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80" b="0">
                <a:solidFill>
                  <a:srgbClr val="2A343D"/>
                </a:solidFill>
                <a:latin typeface="Aptos"/>
              </a:rPr>
              <a:t>Paper Table II prikazuje postotak riječi koje zadovoljavaju oba kriterija: saturation level + HJP/standardni jezik. Naša analogna tablica koristi saturation pass + ručni HJP word-review. Duplikati su dodatno analizirani u našem pipelineu, ali nisu dio ove paper-style ćelije.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rečenice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116000"/>
          <a:ext cx="3527998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/>
                <a:gridCol w="1023119"/>
                <a:gridCol w="1023119"/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66,67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44000" y="1116000"/>
          <a:ext cx="3527998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/>
                <a:gridCol w="1023119"/>
                <a:gridCol w="1023119"/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76,19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90,48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76000" y="3168000"/>
            <a:ext cx="864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00" y="3168000"/>
            <a:ext cx="64800" cy="104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999" y="3258000"/>
            <a:ext cx="840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rečenice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9" y="3510000"/>
            <a:ext cx="8406000" cy="66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Paper Table III prikazuje postotak rečenica koje zadovoljavaju saturation criterion. Naša analogna tablica koristi isti saturation-pass kriterij. Rezultat je vrlo jak na 50 %, a na 70 % jasno pada za klasu 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2: ChatGPT Plus vs. lokalni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3999" y="1080000"/>
          <a:ext cx="4500000" cy="223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0" y="1206000"/>
          <a:ext cx="3888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20"/>
                <a:gridCol w="544320"/>
                <a:gridCol w="660960"/>
                <a:gridCol w="1360800"/>
              </a:tblGrid>
              <a:tr h="384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valid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glavne greške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48,6 %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duplikati=361; SL=112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757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4,5 %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SL=722; broj riječi=195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0" y="2628000"/>
            <a:ext cx="3888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0" y="2628000"/>
            <a:ext cx="64800" cy="1007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5999" y="2718000"/>
            <a:ext cx="3654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Interpretacija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5999" y="2970000"/>
            <a:ext cx="3654000" cy="629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30" b="0">
                <a:solidFill>
                  <a:srgbClr val="2A343D"/>
                </a:solidFill>
                <a:latin typeface="Aptos"/>
              </a:rPr>
              <a:t>ChatGPT Plus najčešće razumije fonemski zadatak, ali se ponavlja. Ollama uglavnom ne pogađa ciljno zasićenje, pa nije dovoljno pouzdan u ovoj konfiguraciji.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najčešće pošlo krivo?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0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ChatGPT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duplikati.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strict_plain_list za riječi: 188 duplikata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za riječi: 71,5 % tehnički valjano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saturacija uglavnom dobra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8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8000" y="1080000"/>
            <a:ext cx="64800" cy="1800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3999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3999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fonetski kriterij.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722 kandidata pala su na zasićenju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195 pogrešan broj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lokalni model ne broji foneme pouzdano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Lekcija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Prompt nije validacija.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I kad tekst izgleda hrvatski, može pasti na fonemima, duplikatima, HJP-u ili strukturi rečenice.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600000"/>
            <a:ext cx="8280000" cy="32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Rješenje: model generira više kandidata nego što treba, a Python prihvaća samo one koji prođu pravila.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Leksička provjera: Hunspell nije HJP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3999" y="1188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1F5D7A"/>
                </a:solidFill>
                <a:latin typeface="Aptos"/>
              </a:rPr>
              <a:t>797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999" y="1458000"/>
            <a:ext cx="1836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ChatGPT Plus kandidata u Task 16 skupu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0000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0000" y="1188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776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6000" y="1458000"/>
            <a:ext cx="1836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 valjano nakon word-level propagacije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6000" y="1188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B74F4F"/>
                </a:solidFill>
                <a:latin typeface="Aptos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58000"/>
            <a:ext cx="1836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 nevaljano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92000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2000" y="1188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0" y="1458000"/>
            <a:ext cx="1836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tehnički + HJP valjan TTS-ready pool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000" y="2664000"/>
            <a:ext cx="820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000" y="2664000"/>
            <a:ext cx="64800" cy="108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999" y="2754000"/>
            <a:ext cx="7974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Kako je riješeno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999" y="3006000"/>
            <a:ext cx="7974000" cy="70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20" b="0">
                <a:solidFill>
                  <a:srgbClr val="2A343D"/>
                </a:solidFill>
                <a:latin typeface="Aptos"/>
              </a:rPr>
              <a:t>Izvozimo jedinstvene normalizirane riječi u CSV. Ručno označim hjp_valid = yes/no/unsure. Za rečenicu kandidat vrijedi samo ako su sve riječi označene kao HJP-valid.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20" b="0">
                <a:solidFill>
                  <a:srgbClr val="2A343D"/>
                </a:solidFill>
                <a:latin typeface="Aptos"/>
              </a:rPr>
              <a:t>Hunspell je samo automatski leksički screening, a ne konačna lingvistička ili klinička validacija.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faza: isti tekst,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655999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Ulaz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Samo kandidati koji su prošli: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tehničku validaciju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Hunspell screening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ručni HJP word-review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655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TTS sustavi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 NG, hrvatski glas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SpeechT5 HR lokalni model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dobivaju isti skup tekstova.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655999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Izlaz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WAV-ovi normalizirani su na: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mono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 kHz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16-bit PCM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Zatim ide ASR i slušna provjera.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491999"/>
            <a:ext cx="8496000" cy="32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250" b="0">
                <a:solidFill>
                  <a:srgbClr val="606C75"/>
                </a:solidFill>
                <a:latin typeface="Aptos"/>
              </a:rPr>
              <a:t>Uravnoteženi TTS podskup: 96 kandidata; skupina S / 70 % / riječ imala je samo 1 dostupni validirani kandidat.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3: tehnička TTS provjera i ASR WER/CER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40"/>
                <a:gridCol w="1607040"/>
                <a:gridCol w="1607040"/>
                <a:gridCol w="1607040"/>
                <a:gridCol w="160704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sintetizirano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format OK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CER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1,076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0,443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0,967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0000" y="2628000"/>
          <a:ext cx="3780000" cy="1655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40000" y="2664000"/>
            <a:ext cx="4031999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0000" y="2664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5999" y="2754000"/>
            <a:ext cx="3797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Caveat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5999" y="3006000"/>
            <a:ext cx="3797999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ASR WER/CER je relativni proxy za razumljivost, nije klinički dokaz izgovora. Visok WER može doći od TTS-a, ASR-a ili neobičnog fonemskog sastava materijala.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demo: ista rečenica kroz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1007999"/>
            <a:ext cx="8856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3999" y="1007999"/>
            <a:ext cx="64800" cy="72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998" y="1097999"/>
            <a:ext cx="86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Tekst za usporedbu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98" y="1349999"/>
            <a:ext cx="8622000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Sva tri audio primjera koriste isti kandidat: „Draga rada radi.”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Kopije su pojačane samo za prezentaciju, posebno zbog tišeg SpeechT5 izlaza.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eSpeak NG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648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demo_draga_rada_radi_espeak_ng.wav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6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Coqui VITS HR</a:t>
            </a:r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3600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demo_draga_rada_radi_coqui_vits_hr.wav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2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SpeechT5 HR</a:t>
            </a:r>
          </a:p>
        </p:txBody>
      </p:sp>
      <p:sp>
        <p:nvSpPr>
          <p:cNvPr id="23" name="TextBox 22">
            <a:hlinkClick r:id="rId4"/>
          </p:cNvPr>
          <p:cNvSpPr txBox="1"/>
          <p:nvPr/>
        </p:nvSpPr>
        <p:spPr>
          <a:xfrm>
            <a:off x="6552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demo_draga_rada_radi_speecht5_hr.wav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428000"/>
            <a:ext cx="8640000" cy="251999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606C75"/>
                </a:solidFill>
                <a:latin typeface="Aptos"/>
              </a:rPr>
              <a:t>Mapa s demo snimkama: /mnt/d/audiorehabilitation/outputs/manual-20260613-ppt/presentations/audiorehab-results/output/audio_demo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4: slušna provjera na uravnoteženom uzorku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400"/>
                <a:gridCol w="1071360"/>
                <a:gridCol w="1874880"/>
                <a:gridCol w="1874880"/>
                <a:gridCol w="142848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razumljivost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prirodnost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 uzorka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4,65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2700000"/>
            <a:ext cx="64800" cy="1368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Najrazumljiviji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eSpeak 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4,65/5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5/5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4000" y="2700000"/>
            <a:ext cx="64800" cy="13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9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Najprirodniji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SpeechT5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3,60/5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4/5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8000" y="2700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3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Najslabiji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niža razumljivost i prirodnost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u ovom materijalu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ostvareno, što nije i sljedeći koraci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3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Ostvareno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reprodukcija ideje iz literature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deterministički hrvatski fonemizator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CSV/Markdown izvještaji i PCD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vs. Ollama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word-review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3 TTS sustava + ASR + slušna provjera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3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Nije ostvareno / ograničenja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nije klinički odobren materijal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Plus je ručni, ne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nije automatski scrap-an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slušna provjera ima jednog recenzenta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ASR je proxy, ne dokaz izgovora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3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Problemi i rješenja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LLM ne zna pouzdano brojati foneme → Python validacija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duplikati → detekcija i izvještaj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lokalni modeli slabi → odvojena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TTS formati različiti → normalizacija WAV-a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9"/>
            <a:ext cx="8496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Zaključak: pipeline je reproducibilan i pokazuje da generiranje materijala može pomoći, ali konačna lingvistička i klinička odluka ostaje na čovjeku.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1435</Words>
  <Application>Microsoft Office PowerPoint</Application>
  <PresentationFormat>Widescreen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Računalna obrada govora i jezika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ROGJ tema 16</dc:title>
  <dc:subject>Evaluacija jezičnih generativnih modela za potrebe audiorehabilitacije</dc:subject>
  <dc:creator>OpenAI</dc:creator>
  <cp:lastModifiedBy>Denis Ibiši</cp:lastModifiedBy>
  <cp:revision>37</cp:revision>
  <dcterms:created xsi:type="dcterms:W3CDTF">2026-04-24T12:28:30Z</dcterms:created>
  <dcterms:modified xsi:type="dcterms:W3CDTF">2026-04-26T22:18:15Z</dcterms:modified>
</cp:coreProperties>
</file>