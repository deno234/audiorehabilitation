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791700" cy="5508625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731" autoAdjust="0"/>
  </p:normalViewPr>
  <p:slideViewPr>
    <p:cSldViewPr snapToGrid="0" snapToObjects="1">
      <p:cViewPr varScale="1">
        <p:scale>
          <a:sx n="82" d="100"/>
          <a:sy n="82" d="100"/>
        </p:scale>
        <p:origin x="13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100"/>
              <a:t>Ukupna usporedba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F18-4448-88A7-8DBF905B4A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4.5999999999999996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F18-4448-88A7-8DBF905B4A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F18-4448-88A7-8DBF905B4A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100"/>
              <a:t>Niže je bolje; skala radi prikaza ×100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843-4264-A583-12615F2CBA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843-4264-A583-12615F2CBA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audio_demo/demo_draga_rada_radi_coqui_vits_hr.wav" TargetMode="External"/><Relationship Id="rId2" Type="http://schemas.openxmlformats.org/officeDocument/2006/relationships/hyperlink" Target="audio_demo/demo_draga_rada_radi_espeak_ng.wa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audio_demo/demo_draga_rada_radi_speecht5_hr.wav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800" b="1">
                <a:solidFill>
                  <a:srgbClr val="1F5D7A"/>
                </a:solidFill>
                <a:latin typeface="Aptos"/>
              </a:rPr>
              <a:t>Evaluacija jezičnih generativnih modela</a:t>
            </a:r>
            <a:br/>
            <a:r>
              <a:rPr sz="2800" b="1">
                <a:solidFill>
                  <a:srgbClr val="1F5D7A"/>
                </a:solidFill>
                <a:latin typeface="Aptos"/>
              </a:rPr>
              <a:t>za potrebe audiorehabilitacije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Istraživačka pitanja i doprinosi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763999" cy="50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 generiranje: mogu li modeli predložiti hrvatske riječi i rečenice s ciljanim fonemskim zasićenjem?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763999" cy="50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Python validacija: mogu li se fonemi, pragovi, duplikati i greške provjeriti deterministički?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763999" cy="50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TTS evaluacija: mogu li validirani kandidati postati tehnički ispravni hrvatski WAV zapisi?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4000" y="1422000"/>
            <a:ext cx="1763999" cy="50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ASR + slušanje: koliko su sintetizirani zapisi razumljivi i prirodni?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92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000" y="2592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999" y="2682000"/>
            <a:ext cx="80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Glavni doprinos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934000"/>
            <a:ext cx="8046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Reproducibilni eksperimentalni pipeline: LLM/CSV kandidati → hrvatski fonemizator → deterministička validacija → Hunspell/HJP review → TTS usporedba → ASR WER/CER + slušna provjera.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zasićenje = broj fonema ciljne klase / ukupan broj fonema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3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Parser najprije prepoznaje dž, lj i nj kao jedan fonem.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5999" y="3438000"/>
            <a:ext cx="6749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999" y="3690000"/>
            <a:ext cx="6749999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„puno banana u panju” → p u n o b a n a n a u p a nj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`nj` se broji kao jedan fonem, razmaci se ne broje.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Implementirani postupak: generiranje + deterministička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9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klasa, zasićenje, tip teksta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278000" cy="39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ChatGPT Plus ili Ollama generira kandidate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78000" cy="39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normalizacija + dž/lj/nj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9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SL, znakovi, 3–5 riječi, duplikati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9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Hunspell + ručni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278000" cy="39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CSV, Markdown, tablice, greške,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Sva čitanja i pisanja CSV-a rade u UTF-8, tako da se čuvaju č, ć, đ, š, ž i fonemi dž/lj/nj.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Tehnička implementacija: moduli i podaci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936000"/>
          <a:ext cx="9072000" cy="26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50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Modul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Što radi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Ulaz/izlaz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phonemizer.py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normalizacija, UTF-8, dž/lj/nj longest-match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tekst → fonemi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phoneme_classes.py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mapiranje fonema u N, SN, S, SV, 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fonem → klasa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validators.py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saturation, znakovi, broj riječi, duplikati, Hunspell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candidate → pass/fail + reasons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metrics.py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PCD, frekvencije fonema, duplicate rate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validirani redovi → metrike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generators.py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manual CSV, Ollama parser, prompt strategije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LLM output → CSV kandidati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report.py / pipeline.py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run_id, config snapshot, CSV/Markdown report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reproducibilni eksperimenti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tts.py / asr_eval.py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WAV normalizacija, TTS manifest, WER/CER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validirani tekst → audio evaluacija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3851999"/>
            <a:ext cx="8712000" cy="57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3851999"/>
            <a:ext cx="64800" cy="576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3941999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Reproducibilnost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4193999"/>
            <a:ext cx="8478000" cy="198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Svaki run ima `run_id`, kopiju konfiguracije, UTF-8 CSV izlaze, sirove generacije i Markdown izvještaj. Zato se rezultati mogu ponovno provjeriti bez ručnog brojanja.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Ključni algoritam: fonemizacija i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Fonemizacija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1. lowercase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2. ukloni interpunkciju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3. očuvaj č, ć, đ, š, ž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4. longest-match: dž, lj, nj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5. ostala slova kao pojedinačni fonemi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6. razmaci se ne broje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68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Saturation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target_count = broj fonema iz ciljne klase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N = ukupan broj fonema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3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saturation = target_count / N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3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passes = saturation ≥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Failure reasons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Svaki kandidat može imati više razloga pada: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• failed_saturation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• invalid_characters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• wrong_word_count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• duplicate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• repeated_words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• dictionary_failed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744000"/>
            <a:ext cx="8496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Primjer: `panj` → p, a, nj; `džep` → dž, e, p. Ovo je deterministički parser, ne LLM procjena.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Task 16 usporedba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5 klasa × 2 SL × 2 tipa × 2 prompta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ChatGPT Plus: 797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Ollama: 757 kandidata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TTS-ready skup: 355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Uravnoteženi TTS podskup: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Sinteza: eSpeak NG, Coqui VITS HR, SpeechT5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91999"/>
            <a:ext cx="756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00" b="0">
                <a:solidFill>
                  <a:srgbClr val="606C75"/>
                </a:solidFill>
                <a:latin typeface="Aptos"/>
              </a:rPr>
              <a:t>SL = saturation level / prag zasićenja ciljnom fonemskom klasom.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riječi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6000" y="1080000"/>
          <a:ext cx="4356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5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>
                <a:solidFill>
                  <a:srgbClr val="2A343D"/>
                </a:solidFill>
                <a:latin typeface="Aptos"/>
              </a:rPr>
              <a:t>Paper Table II prikazuje postotak riječi koje zadovoljavaju oba kriterija: saturation level + HJP/standardni jezik. Naša analogna tablica koristi saturation pass + ručni HJP word-review. Duplikati su dodatno analizirani u našem pipelineu, ali nisu dio ove paper-style ćelije.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66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Paper Table III prikazuje postotak rečenica koje zadovoljavaju saturation criterion. Naša analogna tablica koristi isti saturation-pass kriterij. Rezultat je vrlo jak na 50 %, a na 70 % jasno pada za klasu 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3999" y="1080000"/>
          <a:ext cx="4500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duplikati=361;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SL=722; broj riječi=195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>
                <a:solidFill>
                  <a:srgbClr val="2A343D"/>
                </a:solidFill>
                <a:latin typeface="Aptos"/>
              </a:rPr>
              <a:t>ChatGPT Plus najčešće razumije fonemski zadatak, ali se ponavlja. Ollama uglavnom ne pogađa ciljno zasićenje, pa nije dovoljno pouzdan u ovoj konfiguraciji.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najčešće pošlo krivo?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0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ChatGPT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duplikati.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strict_plain_list za riječi: 188 duplikata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za riječi: 71,5 % tehnički valjano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saturacija uglavnom dobra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8000" y="1080000"/>
            <a:ext cx="64800" cy="1800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3999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999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fonetski kriterij.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722 kandidata pala su na zasićenju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195 pogrešan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lokalni model ne broji foneme pouzdano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Lekcija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Prompt nije validacija.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I kad tekst izgleda hrvatski, može pasti na fonemima, duplikatima, HJP-u ili strukturi rečenice.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00000"/>
            <a:ext cx="8280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Rješenje: model generira više kandidata nego što treba, a Python prihvaća samo one koji prođu pravila.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Kako evaluator odlučuje valjanost + PCD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244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6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Tehnički pragovi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646000" cy="207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Kandidat je tehnički valjan ako prođe: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zasićenje ≥ traženi SL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samo hrvatska slova i razmaci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word = točno 1 riječ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sentence = 3–5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nije duplikat u runu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nema ponovljene riječi u rečenici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000" y="917999"/>
            <a:ext cx="64800" cy="2448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1999" y="1007999"/>
            <a:ext cx="26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Razina eksperimenta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999" y="1259999"/>
            <a:ext cx="2646000" cy="207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Korišteni pragovi: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riječi: SL 40, 50, 60, 70, 80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rečenice: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Task 16: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08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SL = minimalni % fonema ciljne klase.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2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52000" y="917999"/>
            <a:ext cx="64800" cy="2448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7999" y="1007999"/>
            <a:ext cx="26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999" y="1259999"/>
            <a:ext cx="2646000" cy="207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Phonetic Content Dissimilarity mjeri koliko su dva kandidata fonetski različita.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08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Naš paper-style PCD koristi dulji kandidat kao nazivnik.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Veći PCD = veća raznolikost.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05753"/>
              </p:ext>
            </p:extLst>
          </p:nvPr>
        </p:nvGraphicFramePr>
        <p:xfrm>
          <a:off x="765110" y="3638938"/>
          <a:ext cx="8306888" cy="71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02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Avg. PCD po klasama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02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020">
                <a:tc>
                  <a:txBody>
                    <a:bodyPr/>
                    <a:lstStyle/>
                    <a:p>
                      <a:pPr algn="l"/>
                      <a:r>
                        <a:rPr sz="919" dirty="0" err="1">
                          <a:solidFill>
                            <a:srgbClr val="2A343D"/>
                          </a:solidFill>
                          <a:latin typeface="Aptos"/>
                        </a:rPr>
                        <a:t>Ollama</a:t>
                      </a:r>
                      <a:r>
                        <a:rPr sz="919" dirty="0">
                          <a:solidFill>
                            <a:srgbClr val="2A343D"/>
                          </a:solidFill>
                          <a:latin typeface="Aptos"/>
                        </a:rPr>
                        <a:t>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0,537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0,522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dirty="0">
                          <a:solidFill>
                            <a:srgbClr val="2A343D"/>
                          </a:solidFill>
                          <a:latin typeface="Aptos"/>
                        </a:rPr>
                        <a:t>0,667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92000" y="4392000"/>
            <a:ext cx="8208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80" b="0">
                <a:solidFill>
                  <a:srgbClr val="606C75"/>
                </a:solidFill>
                <a:latin typeface="Aptos"/>
              </a:rPr>
              <a:t>— = nema dovoljno validnih kandidata za parni PCD u toj klasi.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screening + ručni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1764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Hunspell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Automatski provjerava svaku normaliziranu riječ preko hrvatskog rječnika `hr_HR`.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Izlaz: yes / no / unsure + popis nepoznatih ili odbačenih riječi.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17999"/>
            <a:ext cx="64800" cy="1764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Hunspell nije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Nije HJP dokaz.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značenje rečenice.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kliničku prikladnost.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Može odbiti valjane oblike ili prihvatiti kontekstualno loše riječi.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17999"/>
            <a:ext cx="64800" cy="176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Ručni HJP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Izvoz jedinstvenih riječi → ručno `hjp_valid`.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Riječ: validna ako je ta riječ yes.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Rečenica: validna samo ako su sve riječi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999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3999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1F5D7A"/>
                </a:solidFill>
                <a:latin typeface="Aptos"/>
              </a:rPr>
              <a:t>95,4 %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99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Hunspell-valid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00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776 / 797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HJP-valid nakon word-review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6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6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2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HJP-invalid kandidata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92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TTS-ready: tehnički + HJP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točno utječe na rezultate?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4000" y="917999"/>
          <a:ext cx="9144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Rezultat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mjeri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ga ruši / smanjuje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Kako se koristi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SL prolaznost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samo fonemi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target_count / total ≥ 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glavni fonetski kriterij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Tehnička valjanost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struktura + fonemi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SL, znakovi, broj riječi, duplikat, ponavljanje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osnovni Python pass/fail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Hunspell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leksika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svaka riječ prihvaćena u hr_HR rječniku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automatski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Technical + Hunspell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tehnika + screening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tehnički validno i Hunspell=yes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skalabilna leksička procjena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HJP/manual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ručni word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sve riječi u kandidatu imaju hjp_valid=yes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najbliže kriteriju iz paper-a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PCD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fonemska udaljenost među kandidatima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nije pass/fail nego diversity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TTS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audio tehnika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WAV postoji, mono, 16 kHz, 16-bit PCM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ne dokazuje prirodnost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WER/CER + slušanje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audio razumljivost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ASR pogreške + ljudske ocjene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proxy + subjektivna provjera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3960000"/>
            <a:ext cx="871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3960000"/>
            <a:ext cx="64800" cy="5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4050000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Najvažnija interpretacija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4302000"/>
            <a:ext cx="8478000" cy="1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U radu ne postoji jedna jedina “valjanost”. Rezultate čitam slojevito: prvo fonetski i strukturno, zatim automatski leksički, zatim ručno HJP, a tek onda audio.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TTS sustavi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628000"/>
          <a:ext cx="3780000" cy="165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5999" y="2754000"/>
            <a:ext cx="37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998" y="1097999"/>
            <a:ext cx="86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Tekst za usporedbu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98" y="1349999"/>
            <a:ext cx="8622000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Sva tri audio primjera koriste isti kandidat: „Draga rada radi.”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Kopije su pojačane samo za prezentaciju, posebno zbog tišeg SpeechT5 izlaza.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eSpeak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28000"/>
            <a:ext cx="8640000" cy="251999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606C75"/>
                </a:solidFill>
                <a:latin typeface="Aptos"/>
              </a:rPr>
              <a:t>Mapa s demo snimkama: /mnt/d/audiorehabilitation/outputs/manual-20260613-ppt/presentations/audiorehab-results/output/audio_demo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reprodukcija ideje iz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deterministički hrvatski fonemizator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CSV/Markdown izvještaji i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vs. Ollama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3 TTS sustava + ASR + slušna provjera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nije klinički odobren materijal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Plus je ručni,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nije automatski scrap-an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slušna provjera ima jednog recenzenta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ASR je proxy, ne dokaz izgovora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8496000" cy="39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Zaključak: pipeline je reproducibilan i pokazuje da generiranje materijala može pomoći, ali konačna lingvistička i klinička odluka ostaje na čovjeku.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2524</Words>
  <Application>Microsoft Office PowerPoint</Application>
  <PresentationFormat>Custom</PresentationFormat>
  <Paragraphs>565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Gaming 3</cp:lastModifiedBy>
  <cp:revision>38</cp:revision>
  <dcterms:created xsi:type="dcterms:W3CDTF">2026-04-24T12:28:30Z</dcterms:created>
  <dcterms:modified xsi:type="dcterms:W3CDTF">2026-06-13T17:17:32Z</dcterms:modified>
</cp:coreProperties>
</file>