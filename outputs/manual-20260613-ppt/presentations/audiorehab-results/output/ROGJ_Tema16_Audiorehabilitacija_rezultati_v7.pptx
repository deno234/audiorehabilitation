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791700" cy="5508625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731" autoAdjust="0"/>
  </p:normalViewPr>
  <p:slideViewPr>
    <p:cSldViewPr snapToGrid="0" snapToObjects="1">
      <p:cViewPr varScale="1">
        <p:scale>
          <a:sx n="82" d="100"/>
          <a:sy n="82" d="100"/>
        </p:scale>
        <p:origin x="13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r-HR" sz="1100"/>
              <a:t>Ukupna usporedba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C50-4B7C-8639-C579980B7C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4.5999999999999996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C50-4B7C-8639-C579980B7C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C50-4B7C-8639-C579980B7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pl-PL" sz="1100" dirty="0"/>
              <a:t>Usporedba</a:t>
            </a:r>
            <a:r>
              <a:rPr lang="pl-PL" sz="1100" baseline="0" dirty="0"/>
              <a:t> TTS modela</a:t>
            </a:r>
            <a:endParaRPr lang="pl-PL" sz="1100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2F-47F6-B8CA-AEAA66D1BB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42F-47F6-B8CA-AEAA66D1BB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sr-Latn-R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7013" y="1524000"/>
            <a:ext cx="7312026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0811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audio_demo/demo_draga_rada_radi_coqui_vits_hr.wav" TargetMode="External"/><Relationship Id="rId2" Type="http://schemas.openxmlformats.org/officeDocument/2006/relationships/hyperlink" Target="audio_demo/demo_draga_rada_radi_espeak_ng.wa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audio_demo/demo_draga_rada_radi_speecht5_hr.wav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800" b="1" dirty="0" err="1">
                <a:solidFill>
                  <a:srgbClr val="1F5D7A"/>
                </a:solidFill>
                <a:latin typeface="Aptos"/>
              </a:rPr>
              <a:t>Evaluacija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jezičnih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generativnih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modela</a:t>
            </a:r>
            <a:br>
              <a:rPr dirty="0"/>
            </a:br>
            <a:r>
              <a:rPr sz="2800" b="1" dirty="0">
                <a:solidFill>
                  <a:srgbClr val="1F5D7A"/>
                </a:solidFill>
                <a:latin typeface="Aptos"/>
              </a:rPr>
              <a:t>za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potrebe</a:t>
            </a:r>
            <a:r>
              <a:rPr sz="28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800" b="1" dirty="0" err="1">
                <a:solidFill>
                  <a:srgbClr val="1F5D7A"/>
                </a:solidFill>
                <a:latin typeface="Aptos"/>
              </a:rPr>
              <a:t>audiorehabilitacije</a:t>
            </a:r>
            <a:endParaRPr sz="28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Istraživačka pitanja i doprinosi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835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LLM</a:t>
            </a:r>
            <a:r>
              <a:rPr lang="hr-HR" sz="980" dirty="0">
                <a:solidFill>
                  <a:srgbClr val="2A343D"/>
                </a:solidFill>
                <a:latin typeface="Aptos"/>
              </a:rPr>
              <a:t>: M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ogu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modeli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predložiti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hrvatske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rečenice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ciljanim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fonemskim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zasićenjem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835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Python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validacija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mogu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se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fonemi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pragovi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duplikati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greške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provjeriti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deterministički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99999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TTS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evaluacija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mogu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li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validirani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kandidati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postati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tehnički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ispravni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WAV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zapisi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846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7272" y="1432391"/>
            <a:ext cx="1494808" cy="488783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80" b="0" dirty="0">
                <a:solidFill>
                  <a:srgbClr val="2A343D"/>
                </a:solidFill>
                <a:latin typeface="Aptos"/>
              </a:rPr>
              <a:t>ASR +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slušanje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koliko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sintetizirani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zapisi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razumljivi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80" b="0" dirty="0" err="1">
                <a:solidFill>
                  <a:srgbClr val="2A343D"/>
                </a:solidFill>
                <a:latin typeface="Aptos"/>
              </a:rPr>
              <a:t>prirodni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92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000" y="2592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999" y="2682000"/>
            <a:ext cx="804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Glavni doprinos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934000"/>
            <a:ext cx="8046000" cy="106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 dirty="0" err="1">
                <a:solidFill>
                  <a:srgbClr val="2A343D"/>
                </a:solidFill>
                <a:latin typeface="Aptos"/>
              </a:rPr>
              <a:t>Reproducibilni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eksperimentalni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pipeline: LLM/CSV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kandidati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fonemizator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deterministička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validacija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/HJP review → TTS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usporedba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→ ASR WER/CER +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provjera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=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broj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ciljne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klase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/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ukupan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broj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fonema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3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 dirty="0">
                <a:solidFill>
                  <a:srgbClr val="2A343D"/>
                </a:solidFill>
                <a:latin typeface="Aptos"/>
              </a:rPr>
              <a:t>Parser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najprije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prepoznaje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dž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lj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kao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jedan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2A343D"/>
                </a:solidFill>
                <a:latin typeface="Aptos"/>
              </a:rPr>
              <a:t>fonem</a:t>
            </a:r>
            <a:r>
              <a:rPr sz="135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 err="1">
                <a:solidFill>
                  <a:srgbClr val="1F5D7A"/>
                </a:solidFill>
                <a:latin typeface="Aptos"/>
              </a:rPr>
              <a:t>Implementirani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postupak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: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generiranje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+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deterministička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validacija</a:t>
            </a:r>
            <a:endParaRPr sz="20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klasa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tip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teksta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139804" cy="482628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Plus</a:t>
            </a:r>
            <a:r>
              <a:rPr lang="hr-HR" sz="950" b="0" dirty="0">
                <a:solidFill>
                  <a:srgbClr val="2A343D"/>
                </a:solidFill>
                <a:latin typeface="Aptos"/>
              </a:rPr>
              <a:t> 5.5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lang="hr-HR" sz="950" dirty="0">
                <a:solidFill>
                  <a:srgbClr val="2A343D"/>
                </a:solidFill>
                <a:latin typeface="Aptos"/>
              </a:rPr>
              <a:t>llama3.1:8b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generira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kandidate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normalizacija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dž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/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lj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/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nj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SL,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znakovi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3–5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duplikati</a:t>
            </a:r>
            <a:endParaRPr sz="9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 err="1">
                <a:solidFill>
                  <a:srgbClr val="2A343D"/>
                </a:solidFill>
                <a:latin typeface="Aptos"/>
              </a:rPr>
              <a:t>Hunspell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+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139804" cy="3287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950" b="0" dirty="0">
                <a:solidFill>
                  <a:srgbClr val="2A343D"/>
                </a:solidFill>
                <a:latin typeface="Aptos"/>
              </a:rPr>
              <a:t>CSV, Markdown,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tablice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950" b="0" dirty="0" err="1">
                <a:solidFill>
                  <a:srgbClr val="2A343D"/>
                </a:solidFill>
                <a:latin typeface="Aptos"/>
              </a:rPr>
              <a:t>greške</a:t>
            </a:r>
            <a:r>
              <a:rPr sz="950" b="0" dirty="0">
                <a:solidFill>
                  <a:srgbClr val="2A343D"/>
                </a:solidFill>
                <a:latin typeface="Aptos"/>
              </a:rPr>
              <a:t>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 dirty="0" err="1">
                <a:solidFill>
                  <a:srgbClr val="1F5D7A"/>
                </a:solidFill>
                <a:latin typeface="Aptos"/>
              </a:rPr>
              <a:t>Sva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čitanja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pisanja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CSV-a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rade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u UTF-8,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tako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da se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čuvaju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č, ć, đ, š, ž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fonemi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dž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/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lj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/</a:t>
            </a:r>
            <a:r>
              <a:rPr sz="1300" b="1" dirty="0" err="1">
                <a:solidFill>
                  <a:srgbClr val="1F5D7A"/>
                </a:solidFill>
                <a:latin typeface="Aptos"/>
              </a:rPr>
              <a:t>nj</a:t>
            </a:r>
            <a:r>
              <a:rPr sz="1300" b="1" dirty="0">
                <a:solidFill>
                  <a:srgbClr val="1F5D7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 err="1">
                <a:solidFill>
                  <a:srgbClr val="1F5D7A"/>
                </a:solidFill>
                <a:latin typeface="Aptos"/>
              </a:rPr>
              <a:t>Tehnička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implementacija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: moduli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podaci</a:t>
            </a:r>
            <a:endParaRPr sz="20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688965"/>
              </p:ext>
            </p:extLst>
          </p:nvPr>
        </p:nvGraphicFramePr>
        <p:xfrm>
          <a:off x="359850" y="1440312"/>
          <a:ext cx="9072000" cy="1971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500">
                <a:tc>
                  <a:txBody>
                    <a:bodyPr/>
                    <a:lstStyle/>
                    <a:p>
                      <a:pPr algn="ctr"/>
                      <a:r>
                        <a:rPr sz="780" b="1" dirty="0">
                          <a:solidFill>
                            <a:srgbClr val="FFFFFF"/>
                          </a:solidFill>
                          <a:latin typeface="Aptos"/>
                        </a:rPr>
                        <a:t>Modul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Što radi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Ulaz/izlaz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phonemizer.py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ormalizacija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 (mala slova, uklanja interpunkcije, razmaci)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 UTF-8,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dž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/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lj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/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nj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longest-match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tekst → fonemi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phoneme_classes.py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mapiranje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fonema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u N, SN, S, SV, 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fonem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→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klasa</a:t>
                      </a:r>
                      <a:endParaRPr sz="78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validators.py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zasićenje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 dopušteni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znakovi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broj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duplikati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Hunspell</a:t>
                      </a:r>
                      <a:endParaRPr sz="78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kandidat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→ 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prolaz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/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iznimka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+ 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razlozi</a:t>
                      </a:r>
                      <a:endParaRPr sz="78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metrics.py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PCD,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frekvencije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fonema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unique/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duplicate rate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, distribucija klasa fonema</a:t>
                      </a:r>
                      <a:endParaRPr sz="78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validirani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redovi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→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metrike</a:t>
                      </a:r>
                      <a:endParaRPr sz="78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500">
                <a:tc>
                  <a:txBody>
                    <a:bodyPr/>
                    <a:lstStyle/>
                    <a:p>
                      <a:pPr algn="l"/>
                      <a:r>
                        <a:rPr sz="780">
                          <a:solidFill>
                            <a:srgbClr val="2A343D"/>
                          </a:solidFill>
                          <a:latin typeface="Aptos"/>
                        </a:rPr>
                        <a:t>tts.py / asr_eval.py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TTS adapteri, 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WAV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normalizacija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 (WAV, mono, 16kHz, 16-bit PCM)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Aptos"/>
                        </a:rPr>
                        <a:t>ASR transkripcija (faster_whisper(large-v3-turbo)), 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WER/CER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validirani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tekst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 →</a:t>
                      </a:r>
                      <a:r>
                        <a:rPr lang="hr-HR" sz="780" dirty="0">
                          <a:solidFill>
                            <a:srgbClr val="2A343D"/>
                          </a:solidFill>
                          <a:latin typeface="+mn-lt"/>
                        </a:rPr>
                        <a:t> TTS → </a:t>
                      </a:r>
                      <a:r>
                        <a:rPr sz="780" dirty="0">
                          <a:solidFill>
                            <a:srgbClr val="2A343D"/>
                          </a:solidFill>
                          <a:latin typeface="Aptos"/>
                        </a:rPr>
                        <a:t>audio </a:t>
                      </a:r>
                      <a:r>
                        <a:rPr sz="780" dirty="0" err="1">
                          <a:solidFill>
                            <a:srgbClr val="2A343D"/>
                          </a:solidFill>
                          <a:latin typeface="Aptos"/>
                        </a:rPr>
                        <a:t>evaluacija</a:t>
                      </a:r>
                      <a:endParaRPr sz="78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 dirty="0" err="1">
                <a:solidFill>
                  <a:srgbClr val="606C75"/>
                </a:solidFill>
                <a:latin typeface="Aptos"/>
              </a:rPr>
              <a:t>Računalna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obrada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govora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i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jezika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·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diplomski</a:t>
            </a:r>
            <a:r>
              <a:rPr sz="850" b="0" dirty="0">
                <a:solidFill>
                  <a:srgbClr val="606C75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06C75"/>
                </a:solidFill>
                <a:latin typeface="Aptos"/>
              </a:rPr>
              <a:t>studij</a:t>
            </a:r>
            <a:endParaRPr sz="850" b="0" dirty="0">
              <a:solidFill>
                <a:srgbClr val="606C75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43250" y="1144408"/>
            <a:ext cx="2898001" cy="267184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/>
            <a:r>
              <a:rPr lang="hr-HR" sz="1500" b="1" dirty="0">
                <a:solidFill>
                  <a:srgbClr val="1F5D7A"/>
                </a:solidFill>
                <a:latin typeface="Aptos"/>
              </a:rPr>
              <a:t>U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sporedba</a:t>
            </a:r>
            <a:r>
              <a:rPr lang="hr-HR" sz="1500" b="1" dirty="0">
                <a:solidFill>
                  <a:srgbClr val="1F5D7A"/>
                </a:solidFill>
                <a:latin typeface="Aptos"/>
              </a:rPr>
              <a:t> ChatGPT-Ollama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5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klasa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× 2 SL × 2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tipa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× 2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prompta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Plus: 797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kandidata</a:t>
            </a:r>
            <a:endParaRPr sz="130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757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kandidata</a:t>
            </a:r>
            <a:endParaRPr sz="130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>
                <a:solidFill>
                  <a:srgbClr val="2A343D"/>
                </a:solidFill>
                <a:latin typeface="Aptos"/>
              </a:rPr>
              <a:t>TTS-ready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skup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355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kandidata</a:t>
            </a:r>
            <a:endParaRPr sz="130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Uravnoteženi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TTS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podskup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Sinteza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eSpeak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NG, Coqui VITS HR, SpeechT5 HR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9042" y="244800"/>
            <a:ext cx="2153919" cy="344128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 err="1">
                <a:solidFill>
                  <a:srgbClr val="1F5D7A"/>
                </a:solidFill>
                <a:latin typeface="Aptos"/>
              </a:rPr>
              <a:t>Reprodukcija</a:t>
            </a:r>
            <a:r>
              <a:rPr sz="20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F5D7A"/>
                </a:solidFill>
                <a:latin typeface="Aptos"/>
              </a:rPr>
              <a:t>rada</a:t>
            </a:r>
            <a:endParaRPr sz="20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94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384953"/>
              </p:ext>
            </p:extLst>
          </p:nvPr>
        </p:nvGraphicFramePr>
        <p:xfrm>
          <a:off x="5076000" y="1080000"/>
          <a:ext cx="3855198" cy="1691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 dirty="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dirty="0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392258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 dirty="0">
                <a:solidFill>
                  <a:srgbClr val="2A343D"/>
                </a:solidFill>
                <a:latin typeface="Aptos"/>
              </a:rPr>
              <a:t>Paper Table II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prikazuje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postotak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koje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zadovoljavaju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oba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kriterija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: saturation level + HJP/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standardni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jezik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Naša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analogna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tablica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koristi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saturation pass + </a:t>
            </a:r>
            <a:r>
              <a:rPr sz="118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1180" b="0" dirty="0">
                <a:solidFill>
                  <a:srgbClr val="2A343D"/>
                </a:solidFill>
                <a:latin typeface="Aptos"/>
              </a:rPr>
              <a:t> HJP word-review.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7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7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398413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 dirty="0">
                <a:solidFill>
                  <a:srgbClr val="2A343D"/>
                </a:solidFill>
                <a:latin typeface="Aptos"/>
              </a:rPr>
              <a:t>Paper Table III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prikazuje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postotak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rečenica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koje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zadovoljavaju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lang="hr-HR" sz="1200" dirty="0">
                <a:solidFill>
                  <a:srgbClr val="2A343D"/>
                </a:solidFill>
                <a:latin typeface="Aptos"/>
              </a:rPr>
              <a:t>kriterij zasićenja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Naša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analogna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tablica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koristi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isti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</a:t>
            </a:r>
            <a:r>
              <a:rPr lang="hr-HR" sz="1200" b="0" dirty="0">
                <a:solidFill>
                  <a:srgbClr val="2A343D"/>
                </a:solidFill>
                <a:latin typeface="Aptos"/>
              </a:rPr>
              <a:t> kriterij.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Rezultat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je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vrlo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jak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na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50 %, a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na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70 %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jasno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pada za </a:t>
            </a:r>
            <a:r>
              <a:rPr sz="1200" b="0" dirty="0" err="1">
                <a:solidFill>
                  <a:srgbClr val="2A343D"/>
                </a:solidFill>
                <a:latin typeface="Aptos"/>
              </a:rPr>
              <a:t>klasu</a:t>
            </a:r>
            <a:r>
              <a:rPr sz="1200" b="0" dirty="0">
                <a:solidFill>
                  <a:srgbClr val="2A343D"/>
                </a:solidFill>
                <a:latin typeface="Aptos"/>
              </a:rPr>
              <a:t> 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093226"/>
              </p:ext>
            </p:extLst>
          </p:nvPr>
        </p:nvGraphicFramePr>
        <p:xfrm>
          <a:off x="432000" y="1080000"/>
          <a:ext cx="4571999" cy="2952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 err="1">
                          <a:solidFill>
                            <a:srgbClr val="2A343D"/>
                          </a:solidFill>
                          <a:latin typeface="Aptos"/>
                        </a:rPr>
                        <a:t>duplikati</a:t>
                      </a:r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SL=722; </a:t>
                      </a:r>
                      <a:r>
                        <a:rPr sz="850" dirty="0" err="1">
                          <a:solidFill>
                            <a:srgbClr val="2A343D"/>
                          </a:solidFill>
                          <a:latin typeface="Aptos"/>
                        </a:rPr>
                        <a:t>broj</a:t>
                      </a:r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85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850" dirty="0">
                          <a:solidFill>
                            <a:srgbClr val="2A343D"/>
                          </a:solidFill>
                          <a:latin typeface="Aptos"/>
                        </a:rPr>
                        <a:t>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2516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Plus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najčešće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razumije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fonemski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zadatak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ali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se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ponavlja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.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uglavnom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ne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pogađa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ciljno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zasićenje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, pa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dovoljno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pouzdan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u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ovoj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2A343D"/>
                </a:solidFill>
                <a:latin typeface="Aptos"/>
              </a:rPr>
              <a:t>konfiguraciji</a:t>
            </a:r>
            <a:r>
              <a:rPr sz="123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8939" y="244800"/>
            <a:ext cx="554121" cy="344128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 dirty="0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F7F36C7-25CF-45AA-9268-E2FD4B9C7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781774"/>
              </p:ext>
            </p:extLst>
          </p:nvPr>
        </p:nvGraphicFramePr>
        <p:xfrm>
          <a:off x="742406" y="1514094"/>
          <a:ext cx="8563597" cy="1240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8582">
                  <a:extLst>
                    <a:ext uri="{9D8B030D-6E8A-4147-A177-3AD203B41FA5}">
                      <a16:colId xmlns:a16="http://schemas.microsoft.com/office/drawing/2014/main" val="736943496"/>
                    </a:ext>
                  </a:extLst>
                </a:gridCol>
              </a:tblGrid>
              <a:tr h="41340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Avg. PCD po klasama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 dirty="0">
                          <a:solidFill>
                            <a:srgbClr val="FFFFFF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919" b="1" dirty="0">
                          <a:solidFill>
                            <a:srgbClr val="FFFFFF"/>
                          </a:solidFill>
                          <a:latin typeface="Aptos"/>
                        </a:rPr>
                        <a:t>PCD grupa</a:t>
                      </a:r>
                      <a:endParaRPr sz="919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06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919" dirty="0">
                          <a:solidFill>
                            <a:srgbClr val="2A343D"/>
                          </a:solidFill>
                          <a:latin typeface="Aptos"/>
                        </a:rPr>
                        <a:t>35</a:t>
                      </a:r>
                      <a:endParaRPr sz="919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406">
                <a:tc>
                  <a:txBody>
                    <a:bodyPr/>
                    <a:lstStyle/>
                    <a:p>
                      <a:pPr algn="l"/>
                      <a:r>
                        <a:rPr sz="919" dirty="0" err="1">
                          <a:solidFill>
                            <a:srgbClr val="2A343D"/>
                          </a:solidFill>
                          <a:latin typeface="Aptos"/>
                        </a:rPr>
                        <a:t>Ollama</a:t>
                      </a:r>
                      <a:r>
                        <a:rPr sz="919" dirty="0">
                          <a:solidFill>
                            <a:srgbClr val="2A343D"/>
                          </a:solidFill>
                          <a:latin typeface="Aptos"/>
                        </a:rPr>
                        <a:t>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0,537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0,522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dirty="0">
                          <a:solidFill>
                            <a:srgbClr val="2A343D"/>
                          </a:solidFill>
                          <a:latin typeface="Aptos"/>
                        </a:rPr>
                        <a:t>0,667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919" dirty="0">
                          <a:solidFill>
                            <a:srgbClr val="2A343D"/>
                          </a:solidFill>
                          <a:latin typeface="Aptos"/>
                        </a:rPr>
                        <a:t>11</a:t>
                      </a:r>
                      <a:endParaRPr sz="919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screening + ručni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17999"/>
            <a:ext cx="64800" cy="1764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Hunspell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5999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Automatski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provjerava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svaku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normaliziranu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preko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hrvatskog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rječnika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`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hr_HR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Izlaz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: yes / no / unsure +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popis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nepoznatih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odbačenih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17999"/>
            <a:ext cx="64800" cy="1764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Što</a:t>
            </a:r>
            <a:r>
              <a:rPr sz="15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Hunspell</a:t>
            </a:r>
            <a:r>
              <a:rPr sz="15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nije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7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HJP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dokaz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>
                <a:solidFill>
                  <a:srgbClr val="2A343D"/>
                </a:solidFill>
                <a:latin typeface="Aptos"/>
              </a:rPr>
              <a:t>Ne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provjerava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značenje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rečenice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>
                <a:solidFill>
                  <a:srgbClr val="2A343D"/>
                </a:solidFill>
                <a:latin typeface="Aptos"/>
              </a:rPr>
              <a:t>Ne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provjerava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kliničku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prikladnost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Može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odbiti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valjane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oblike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ili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prihvatiti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kontekstualno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loše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17999"/>
            <a:ext cx="2772000" cy="17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17999"/>
            <a:ext cx="64800" cy="176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07999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Ručni HJP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259999"/>
            <a:ext cx="2538000" cy="1386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Izvoz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jedinstvenih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→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ručno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`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hjp_valid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`.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12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Riječ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validna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ako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je ta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yes.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20" b="0" dirty="0" err="1">
                <a:solidFill>
                  <a:srgbClr val="2A343D"/>
                </a:solidFill>
                <a:latin typeface="Aptos"/>
              </a:rPr>
              <a:t>Rečenica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: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validna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samo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ako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sve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2A343D"/>
                </a:solidFill>
                <a:latin typeface="Aptos"/>
              </a:rPr>
              <a:t>riječi</a:t>
            </a:r>
            <a:r>
              <a:rPr sz="1120" b="0" dirty="0">
                <a:solidFill>
                  <a:srgbClr val="2A343D"/>
                </a:solidFill>
                <a:latin typeface="Aptos"/>
              </a:rPr>
              <a:t> 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999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6951" y="3042000"/>
            <a:ext cx="1822098" cy="328739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1F5D7A"/>
                </a:solidFill>
                <a:latin typeface="Aptos"/>
              </a:rPr>
              <a:t>95,4 %</a:t>
            </a:r>
            <a:r>
              <a:rPr lang="hr-HR" sz="1900" b="1" dirty="0">
                <a:solidFill>
                  <a:srgbClr val="1F5D7A"/>
                </a:solidFill>
                <a:latin typeface="Aptos"/>
              </a:rPr>
              <a:t> (760/797)</a:t>
            </a:r>
            <a:endParaRPr sz="19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999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Hunspell-valid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0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4F945D"/>
                </a:solidFill>
                <a:latin typeface="Aptos"/>
              </a:rPr>
              <a:t>776 / 797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6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HJP-valid nakon word-review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6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6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HJP-invalid kandidata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92000" y="2970000"/>
            <a:ext cx="1908000" cy="720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92000" y="3042000"/>
            <a:ext cx="1908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 dirty="0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312000"/>
            <a:ext cx="1836000" cy="37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TTS-ready: tehnički + HJP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točno utječe na rezultate?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35075"/>
              </p:ext>
            </p:extLst>
          </p:nvPr>
        </p:nvGraphicFramePr>
        <p:xfrm>
          <a:off x="324000" y="917999"/>
          <a:ext cx="9144000" cy="24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mjeri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Što ga ruši / smanjuje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Aptos"/>
                        </a:rPr>
                        <a:t>Kako se koristi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SL prolaznost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samo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fonemi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target_count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/ total ≥ 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glavni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fonetski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kriterij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Tehnička valjanost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struktura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+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fonemi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SL,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znakovi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broj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duplikat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,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ponavljanje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osnovni Python pass/fail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Hunspell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leksika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svaka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riječ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prihvaćena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u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hr_HR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rječniku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automatski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HJP/manual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ručni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word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sve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riječi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u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kandidatu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imaju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hjp_valid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=yes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najbliže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kriteriju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iz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lang="hr-HR" sz="740" dirty="0">
                          <a:solidFill>
                            <a:srgbClr val="2A343D"/>
                          </a:solidFill>
                          <a:latin typeface="Aptos"/>
                        </a:rPr>
                        <a:t>znanstvenog rada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PCD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fonemska udaljenost među kandidatima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nije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lang="hr-HR" sz="740" dirty="0">
                          <a:solidFill>
                            <a:srgbClr val="2A343D"/>
                          </a:solidFill>
                          <a:latin typeface="Aptos"/>
                        </a:rPr>
                        <a:t>prolaz/pad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nego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lang="hr-HR" sz="740" dirty="0">
                          <a:solidFill>
                            <a:srgbClr val="2A343D"/>
                          </a:solidFill>
                          <a:latin typeface="Aptos"/>
                        </a:rPr>
                        <a:t>različitost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TTS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audio tehnika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WAV postoji, mono, 16 kHz, 16-bit PCM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ne dokazuje prirodnost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l"/>
                      <a:r>
                        <a:rPr sz="740">
                          <a:solidFill>
                            <a:srgbClr val="2A343D"/>
                          </a:solidFill>
                          <a:latin typeface="Aptos"/>
                        </a:rPr>
                        <a:t>WER/CER + slušanje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audio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razumljivost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ASR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pogreške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+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ljudske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ocjene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proxy +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subjektivna</a:t>
                      </a:r>
                      <a:r>
                        <a:rPr sz="740" dirty="0">
                          <a:solidFill>
                            <a:srgbClr val="2A343D"/>
                          </a:solidFill>
                          <a:latin typeface="Aptos"/>
                        </a:rPr>
                        <a:t> </a:t>
                      </a:r>
                      <a:r>
                        <a:rPr sz="740" dirty="0" err="1">
                          <a:solidFill>
                            <a:srgbClr val="2A343D"/>
                          </a:solidFill>
                          <a:latin typeface="Aptos"/>
                        </a:rPr>
                        <a:t>provjera</a:t>
                      </a:r>
                      <a:endParaRPr sz="740" dirty="0">
                        <a:solidFill>
                          <a:srgbClr val="2A343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Ulaz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>
                <a:solidFill>
                  <a:srgbClr val="1F5D7A"/>
                </a:solidFill>
                <a:latin typeface="Aptos"/>
              </a:rPr>
              <a:t>TTS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sustavi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sz="1250" b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773650"/>
              </p:ext>
            </p:extLst>
          </p:nvPr>
        </p:nvGraphicFramePr>
        <p:xfrm>
          <a:off x="233265" y="2628000"/>
          <a:ext cx="4597785" cy="2494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0999" y="1022280"/>
            <a:ext cx="8622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 dirty="0" err="1">
                <a:solidFill>
                  <a:srgbClr val="1F5D7A"/>
                </a:solidFill>
                <a:latin typeface="Aptos"/>
              </a:rPr>
              <a:t>Tekst</a:t>
            </a:r>
            <a:r>
              <a:rPr sz="1500" b="1" dirty="0">
                <a:solidFill>
                  <a:srgbClr val="1F5D7A"/>
                </a:solidFill>
                <a:latin typeface="Aptos"/>
              </a:rPr>
              <a:t> za </a:t>
            </a:r>
            <a:r>
              <a:rPr sz="1500" b="1" dirty="0" err="1">
                <a:solidFill>
                  <a:srgbClr val="1F5D7A"/>
                </a:solidFill>
                <a:latin typeface="Aptos"/>
              </a:rPr>
              <a:t>usporedbu</a:t>
            </a:r>
            <a:endParaRPr sz="1500" b="1" dirty="0">
              <a:solidFill>
                <a:srgbClr val="1F5D7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998" y="1253820"/>
            <a:ext cx="8622000" cy="342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Sva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tri audio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primjera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koriste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isti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kandidat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: „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Draga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rada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radi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 dirty="0" err="1">
                <a:solidFill>
                  <a:srgbClr val="2A343D"/>
                </a:solidFill>
                <a:latin typeface="Aptos"/>
              </a:rPr>
              <a:t>Kopije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su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pojačane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samo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za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prezentaciju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posebno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zbog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tišeg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 SpeechT5 </a:t>
            </a:r>
            <a:r>
              <a:rPr sz="1300" b="0" dirty="0" err="1">
                <a:solidFill>
                  <a:srgbClr val="2A343D"/>
                </a:solidFill>
                <a:latin typeface="Aptos"/>
              </a:rPr>
              <a:t>izlaza</a:t>
            </a:r>
            <a:r>
              <a:rPr sz="1300" b="0" dirty="0">
                <a:solidFill>
                  <a:srgbClr val="2A343D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 dirty="0" err="1">
                <a:solidFill>
                  <a:srgbClr val="2A343D"/>
                </a:solidFill>
                <a:latin typeface="Aptos"/>
              </a:rPr>
              <a:t>eSpeak</a:t>
            </a:r>
            <a:r>
              <a:rPr sz="980" b="0" dirty="0">
                <a:solidFill>
                  <a:srgbClr val="2A343D"/>
                </a:solidFill>
                <a:latin typeface="Aptos"/>
              </a:rPr>
              <a:t>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reprodukcija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ideje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deterministički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hrvatski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fonemizator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CSV/Markdown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izvještaji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vs.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Ollama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usporedba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3 TTS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sustava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+ ASR +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provjera</a:t>
            </a:r>
            <a:endParaRPr sz="11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244799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klinički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odobren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materijal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ChatGPT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Plus je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ručni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HJP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nije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automat</a:t>
            </a:r>
            <a:r>
              <a:rPr lang="hr-HR" sz="1150" b="0" dirty="0">
                <a:solidFill>
                  <a:srgbClr val="2A343D"/>
                </a:solidFill>
                <a:latin typeface="Aptos"/>
              </a:rPr>
              <a:t>iziran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slušna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provjera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ima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jednog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recenzenta</a:t>
            </a:r>
            <a:endParaRPr sz="1150" b="0" dirty="0">
              <a:solidFill>
                <a:srgbClr val="2A343D"/>
              </a:solidFill>
              <a:latin typeface="Aptos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 dirty="0">
                <a:solidFill>
                  <a:srgbClr val="2A343D"/>
                </a:solidFill>
                <a:latin typeface="Aptos"/>
              </a:rPr>
              <a:t>• ASR je proxy, ne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dokaz</a:t>
            </a:r>
            <a:r>
              <a:rPr sz="1150" b="0" dirty="0">
                <a:solidFill>
                  <a:srgbClr val="2A343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2A343D"/>
                </a:solidFill>
                <a:latin typeface="Aptos"/>
              </a:rPr>
              <a:t>izgovora</a:t>
            </a:r>
            <a:endParaRPr sz="1150" b="0" dirty="0">
              <a:solidFill>
                <a:srgbClr val="2A34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tIns="18000" r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tIns="14400" rIns="288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8"/>
            <a:ext cx="8431200" cy="467239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ctr"/>
            <a:r>
              <a:rPr sz="1400" b="1" dirty="0" err="1">
                <a:solidFill>
                  <a:srgbClr val="1F5D7A"/>
                </a:solidFill>
                <a:latin typeface="Aptos"/>
              </a:rPr>
              <a:t>Zaključak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: pipeline je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reproducibilan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pokazuje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da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generiranje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materijala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može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pomoći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ali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konačna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lingvistička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klinička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odluka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ostaje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na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F5D7A"/>
                </a:solidFill>
                <a:latin typeface="Aptos"/>
              </a:rPr>
              <a:t>čovjeku</a:t>
            </a:r>
            <a:r>
              <a:rPr sz="1400" b="1" dirty="0">
                <a:solidFill>
                  <a:srgbClr val="1F5D7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1957</Words>
  <Application>Microsoft Office PowerPoint</Application>
  <PresentationFormat>Custom</PresentationFormat>
  <Paragraphs>481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Gaming 3</cp:lastModifiedBy>
  <cp:revision>67</cp:revision>
  <dcterms:created xsi:type="dcterms:W3CDTF">2026-04-24T12:28:30Z</dcterms:created>
  <dcterms:modified xsi:type="dcterms:W3CDTF">2026-06-13T18:21:35Z</dcterms:modified>
</cp:coreProperties>
</file>