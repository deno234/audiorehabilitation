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7" r:id="rId17"/>
    <p:sldId id="273" r:id="rId18"/>
    <p:sldId id="274" r:id="rId19"/>
    <p:sldId id="275" r:id="rId20"/>
    <p:sldId id="276" r:id="rId21"/>
    <p:sldId id="278" r:id="rId22"/>
  </p:sldIdLst>
  <p:sldSz cx="9791700" cy="5508625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165" autoAdjust="0"/>
  </p:normalViewPr>
  <p:slideViewPr>
    <p:cSldViewPr snapToGrid="0" snapToObjects="1">
      <p:cViewPr varScale="1">
        <p:scale>
          <a:sx n="105" d="100"/>
          <a:sy n="10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hr-HR" sz="1100"/>
              <a:t>Ukupna usporedba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tehnički valjano</c:v>
                </c:pt>
              </c:strCache>
            </c:strRef>
          </c:tx>
          <c:spPr>
            <a:solidFill>
              <a:srgbClr val="22A1B2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48.6</c:v>
                </c:pt>
                <c:pt idx="1">
                  <c:v>4.5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C50-4B7C-8639-C579980B7C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 prolaz</c:v>
                </c:pt>
              </c:strCache>
            </c:strRef>
          </c:tx>
          <c:spPr>
            <a:solidFill>
              <a:srgbClr val="D88D3D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85.9</c:v>
                </c:pt>
                <c:pt idx="1">
                  <c:v>4.5999999999999996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C50-4B7C-8639-C579980B7C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Hunspell</c:v>
                </c:pt>
              </c:strCache>
            </c:strRef>
          </c:tx>
          <c:spPr>
            <a:solidFill>
              <a:srgbClr val="1F5D7A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95.4</c:v>
                </c:pt>
                <c:pt idx="1">
                  <c:v>76.8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C50-4B7C-8639-C579980B7C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sr-Latn-R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pl-PL" sz="1100" dirty="0"/>
              <a:t>Usporedba</a:t>
            </a:r>
            <a:r>
              <a:rPr lang="pl-PL" sz="1100" baseline="0" dirty="0"/>
              <a:t> TTS modela</a:t>
            </a:r>
            <a:endParaRPr lang="pl-PL" sz="1100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WER ×100</c:v>
                </c:pt>
              </c:strCache>
            </c:strRef>
          </c:tx>
          <c:spPr>
            <a:solidFill>
              <a:srgbClr val="22A1B2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Coqui</c:v>
                </c:pt>
                <c:pt idx="1">
                  <c:v>eSpeak</c:v>
                </c:pt>
                <c:pt idx="2">
                  <c:v>SpeechT5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118.7</c:v>
                </c:pt>
                <c:pt idx="1">
                  <c:v>107.6</c:v>
                </c:pt>
                <c:pt idx="2">
                  <c:v>96.7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42F-47F6-B8CA-AEAA66D1BB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 ×100</c:v>
                </c:pt>
              </c:strCache>
            </c:strRef>
          </c:tx>
          <c:spPr>
            <a:solidFill>
              <a:srgbClr val="D88D3D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Coqui</c:v>
                </c:pt>
                <c:pt idx="1">
                  <c:v>eSpeak</c:v>
                </c:pt>
                <c:pt idx="2">
                  <c:v>SpeechT5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69.3</c:v>
                </c:pt>
                <c:pt idx="1">
                  <c:v>44.3</c:v>
                </c:pt>
                <c:pt idx="2">
                  <c:v>43.8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42F-47F6-B8CA-AEAA66D1BB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sr-Latn-R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7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7013" y="1524000"/>
            <a:ext cx="7312026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0811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audio_demo/demo_sivi_zec_visi_coqui_vits_hr.wav" TargetMode="External"/><Relationship Id="rId3" Type="http://schemas.openxmlformats.org/officeDocument/2006/relationships/hyperlink" Target="audio_demo/demo_draga_rada_radi_coqui_vits_hr.wav" TargetMode="External"/><Relationship Id="rId7" Type="http://schemas.openxmlformats.org/officeDocument/2006/relationships/hyperlink" Target="audio_demo/demo_mama_pumpa_pumpu_coqui_vits_hr.wav" TargetMode="External"/><Relationship Id="rId2" Type="http://schemas.openxmlformats.org/officeDocument/2006/relationships/hyperlink" Target="audio_demo/demo_draga_rada_radi_espeak_ng.wav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audio_demo/demo_sivi_zec_visi_espeak_ng.wav" TargetMode="External"/><Relationship Id="rId5" Type="http://schemas.openxmlformats.org/officeDocument/2006/relationships/hyperlink" Target="audio_demo/demo_mama_pumpa_pumpu_espeak_ng.wav" TargetMode="External"/><Relationship Id="rId10" Type="http://schemas.openxmlformats.org/officeDocument/2006/relationships/hyperlink" Target="audio_demo/demo_sivi_zec_visi_speecht5_hr.wav" TargetMode="External"/><Relationship Id="rId4" Type="http://schemas.openxmlformats.org/officeDocument/2006/relationships/hyperlink" Target="audio_demo/demo_draga_rada_radi_speecht5_hr.wav" TargetMode="External"/><Relationship Id="rId9" Type="http://schemas.openxmlformats.org/officeDocument/2006/relationships/hyperlink" Target="audio_demo/demo_mama_pumpa_pumpu_speecht5_hr.wav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72000"/>
            <a:ext cx="9792000" cy="75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800" b="1" dirty="0" err="1">
                <a:solidFill>
                  <a:srgbClr val="1F5D7A"/>
                </a:solidFill>
                <a:latin typeface="Aptos"/>
              </a:rPr>
              <a:t>Evaluacija</a:t>
            </a:r>
            <a:r>
              <a:rPr sz="28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2800" b="1" dirty="0" err="1">
                <a:solidFill>
                  <a:srgbClr val="1F5D7A"/>
                </a:solidFill>
                <a:latin typeface="Aptos"/>
              </a:rPr>
              <a:t>jezičnih</a:t>
            </a:r>
            <a:r>
              <a:rPr sz="28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2800" b="1" dirty="0" err="1">
                <a:solidFill>
                  <a:srgbClr val="1F5D7A"/>
                </a:solidFill>
                <a:latin typeface="Aptos"/>
              </a:rPr>
              <a:t>generativnih</a:t>
            </a:r>
            <a:r>
              <a:rPr sz="28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2800" b="1" dirty="0" err="1">
                <a:solidFill>
                  <a:srgbClr val="1F5D7A"/>
                </a:solidFill>
                <a:latin typeface="Aptos"/>
              </a:rPr>
              <a:t>modela</a:t>
            </a:r>
            <a:br>
              <a:rPr dirty="0"/>
            </a:br>
            <a:r>
              <a:rPr sz="2800" b="1" dirty="0">
                <a:solidFill>
                  <a:srgbClr val="1F5D7A"/>
                </a:solidFill>
                <a:latin typeface="Aptos"/>
              </a:rPr>
              <a:t>za </a:t>
            </a:r>
            <a:r>
              <a:rPr sz="2800" b="1" dirty="0" err="1">
                <a:solidFill>
                  <a:srgbClr val="1F5D7A"/>
                </a:solidFill>
                <a:latin typeface="Aptos"/>
              </a:rPr>
              <a:t>potrebe</a:t>
            </a:r>
            <a:r>
              <a:rPr sz="28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2800" b="1" dirty="0" err="1">
                <a:solidFill>
                  <a:srgbClr val="1F5D7A"/>
                </a:solidFill>
                <a:latin typeface="Aptos"/>
              </a:rPr>
              <a:t>audiorehabilitacije</a:t>
            </a:r>
            <a:endParaRPr sz="28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3" name="Oval 2"/>
          <p:cNvSpPr/>
          <p:nvPr/>
        </p:nvSpPr>
        <p:spPr>
          <a:xfrm>
            <a:off x="720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LLM</a:t>
            </a:r>
          </a:p>
        </p:txBody>
      </p:sp>
      <p:sp>
        <p:nvSpPr>
          <p:cNvPr id="5" name="Oval 4"/>
          <p:cNvSpPr/>
          <p:nvPr/>
        </p:nvSpPr>
        <p:spPr>
          <a:xfrm>
            <a:off x="2484000" y="3024000"/>
            <a:ext cx="720000" cy="720000"/>
          </a:xfrm>
          <a:prstGeom prst="ellipse">
            <a:avLst/>
          </a:prstGeom>
          <a:solidFill>
            <a:srgbClr val="E0EFF4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40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fonemi</a:t>
            </a:r>
          </a:p>
        </p:txBody>
      </p:sp>
      <p:sp>
        <p:nvSpPr>
          <p:cNvPr id="7" name="Oval 6"/>
          <p:cNvSpPr/>
          <p:nvPr/>
        </p:nvSpPr>
        <p:spPr>
          <a:xfrm>
            <a:off x="4248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04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validacija</a:t>
            </a:r>
          </a:p>
        </p:txBody>
      </p:sp>
      <p:sp>
        <p:nvSpPr>
          <p:cNvPr id="9" name="Oval 8"/>
          <p:cNvSpPr/>
          <p:nvPr/>
        </p:nvSpPr>
        <p:spPr>
          <a:xfrm>
            <a:off x="6012000" y="3024000"/>
            <a:ext cx="720000" cy="720000"/>
          </a:xfrm>
          <a:prstGeom prst="ellipse">
            <a:avLst/>
          </a:prstGeom>
          <a:solidFill>
            <a:srgbClr val="E0EFF4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68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TTS</a:t>
            </a:r>
          </a:p>
        </p:txBody>
      </p:sp>
      <p:sp>
        <p:nvSpPr>
          <p:cNvPr id="11" name="Oval 10"/>
          <p:cNvSpPr/>
          <p:nvPr/>
        </p:nvSpPr>
        <p:spPr>
          <a:xfrm>
            <a:off x="7776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2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audio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8D4C38-7F4F-4C60-9B32-7CC4A8670CF3}"/>
              </a:ext>
            </a:extLst>
          </p:cNvPr>
          <p:cNvSpPr txBox="1"/>
          <p:nvPr/>
        </p:nvSpPr>
        <p:spPr>
          <a:xfrm>
            <a:off x="7345680" y="4815840"/>
            <a:ext cx="206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Denis Ibiši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Motivacija: zašto baš fonetski kontroliran materijal?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8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8000" y="1512000"/>
            <a:ext cx="64800" cy="144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3999" y="1602000"/>
            <a:ext cx="23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Slušni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999" y="1854000"/>
            <a:ext cx="2322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U audiorehabilitaciji često se vježbaju kontrasti koje korisnik teško razlikuje.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Primjer: /s/ i /š/, /č/ i /ć/, /nj/ i /lj/.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00000" y="1512000"/>
            <a:ext cx="64800" cy="144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5999" y="1602000"/>
            <a:ext cx="23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Kontrolirani tekst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5999" y="1854000"/>
            <a:ext cx="2322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Treba znati koliko je ciljanih fonema u riječi ili rečenici.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Zato uvodimo klase fonema i postotak zasićenja.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32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32000" y="1512000"/>
            <a:ext cx="64800" cy="1440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7999" y="1602000"/>
            <a:ext cx="23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Audio vježbe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7999" y="1854000"/>
            <a:ext cx="2322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Tekst se smije pretvoriti u zvuk tek nakon validacije.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TTS je zadnji korak, ne dokaz kvalitete.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Istraživačka pitanja i doprinosi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1835999" cy="846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422000"/>
            <a:ext cx="1835999" cy="48878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 dirty="0">
                <a:solidFill>
                  <a:srgbClr val="2A343D"/>
                </a:solidFill>
                <a:latin typeface="Aptos"/>
              </a:rPr>
              <a:t>LLM</a:t>
            </a:r>
            <a:r>
              <a:rPr lang="hr-HR" sz="980" dirty="0">
                <a:solidFill>
                  <a:srgbClr val="2A343D"/>
                </a:solidFill>
                <a:latin typeface="Aptos"/>
              </a:rPr>
              <a:t>: M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ogu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li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modeli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predložiti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hrvatske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rečenice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s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ciljanim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fonemskim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zasićenjem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4000" y="1080000"/>
            <a:ext cx="1835999" cy="846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64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0" y="1422000"/>
            <a:ext cx="1835999" cy="48878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 dirty="0">
                <a:solidFill>
                  <a:srgbClr val="2A343D"/>
                </a:solidFill>
                <a:latin typeface="Aptos"/>
              </a:rPr>
              <a:t>Python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validacija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: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mogu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li se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fonemi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pragovi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duplikati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greške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provjeriti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deterministički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6000" y="1080000"/>
            <a:ext cx="1835999" cy="846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6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 dirty="0">
                <a:solidFill>
                  <a:srgbClr val="4F945D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2000" y="1422000"/>
            <a:ext cx="1799999" cy="48878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 dirty="0">
                <a:solidFill>
                  <a:srgbClr val="2A343D"/>
                </a:solidFill>
                <a:latin typeface="Aptos"/>
              </a:rPr>
              <a:t>TTS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evaluacija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: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mogu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li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validirani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kandidati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postati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tehnički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ispravni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hrvatski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WAV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zapisi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0" y="1080000"/>
            <a:ext cx="1835999" cy="846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28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695BA6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7272" y="1432391"/>
            <a:ext cx="1494808" cy="48878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 dirty="0">
                <a:solidFill>
                  <a:srgbClr val="2A343D"/>
                </a:solidFill>
                <a:latin typeface="Aptos"/>
              </a:rPr>
              <a:t>ASR +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slušanje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: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koliko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su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sintetizirani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zapisi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razumljivi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prirodni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2592000"/>
            <a:ext cx="8280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000" y="2592000"/>
            <a:ext cx="64800" cy="144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999" y="2682000"/>
            <a:ext cx="804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600" b="1">
                <a:solidFill>
                  <a:srgbClr val="1F5D7A"/>
                </a:solidFill>
                <a:latin typeface="Aptos"/>
              </a:rPr>
              <a:t>Glavni doprinos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999" y="2934000"/>
            <a:ext cx="8046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 dirty="0" err="1">
                <a:solidFill>
                  <a:srgbClr val="2A343D"/>
                </a:solidFill>
                <a:latin typeface="Aptos"/>
              </a:rPr>
              <a:t>Reproducibilni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eksperimentalni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pipeline: LLM/CSV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kandidati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→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hrvatski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fonemizator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→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deterministička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validacija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→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Hunspell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/HJP review → TTS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usporedba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→ ASR WER/CER +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slušna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provjera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Veza s radom Andrijašević i Vukelić (MIPRO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1080000"/>
            <a:ext cx="64800" cy="162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5999" y="117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preuzimamo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422000"/>
            <a:ext cx="2466000" cy="12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hrvatski materijal za auditivni trening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pet fonemskih klasa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zasićenje ciljnom klasom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riječi i kratke rečenice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1999" y="1080000"/>
            <a:ext cx="64800" cy="162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7998" y="117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mijenjamo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422000"/>
            <a:ext cx="2466000" cy="12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validacija nije u rukama LLM-a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sve ide kroz Python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spremamo sirove odgovore, CSV i izvještaje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dodajemo PCD, TTS, ASR i slušnu provjeru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1080000"/>
            <a:ext cx="64800" cy="1620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17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uspoređujemo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422000"/>
            <a:ext cx="2466000" cy="12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reprodukcija paper-style promptova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ChatGPT Plus vs. Ollama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paper_style vs. strict_plain_list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eSpeak, Coqui i SpeechT5 za audio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456000"/>
            <a:ext cx="8280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400" b="1">
                <a:solidFill>
                  <a:srgbClr val="B74F4F"/>
                </a:solidFill>
                <a:latin typeface="Aptos"/>
              </a:rPr>
              <a:t>Važno: HJP u promptu nije dokaz. HJP valjanost je odvojena ručna / riječ-po-riječ provjera.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Fonemski zahtjevi: pet klasa i formula zasićenja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000" y="1080000"/>
          <a:ext cx="5256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Fonemi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N / Niski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m, n, nj, b, p,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SN / Srednjeniski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v, g, o, h, l, lj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 / Srednji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a, k, r, d, dž, f, 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SV / Srednjevisoki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č, e, š, t, đ, j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V / Visoki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ć, i, c, z,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120000" y="1080000"/>
            <a:ext cx="3131999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20000" y="1080000"/>
            <a:ext cx="64800" cy="180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45999" y="1170000"/>
            <a:ext cx="2897999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999" y="1422000"/>
            <a:ext cx="2897999" cy="142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 dirty="0" err="1">
                <a:solidFill>
                  <a:srgbClr val="2A343D"/>
                </a:solidFill>
                <a:latin typeface="Aptos"/>
              </a:rPr>
              <a:t>zasićenje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=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broj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fonema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ciljne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klase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/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ukupan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broj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fonema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× 100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3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 dirty="0">
                <a:solidFill>
                  <a:srgbClr val="2A343D"/>
                </a:solidFill>
                <a:latin typeface="Aptos"/>
              </a:rPr>
              <a:t>Parser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najprije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prepoznaje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dž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lj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i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nj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kao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jedan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fonem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0000" y="3348000"/>
            <a:ext cx="6983999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440000" y="3348000"/>
            <a:ext cx="64800" cy="72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20850" y="3348000"/>
            <a:ext cx="6749999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 dirty="0" err="1">
                <a:solidFill>
                  <a:srgbClr val="1F5D7A"/>
                </a:solidFill>
                <a:latin typeface="Aptos"/>
              </a:rPr>
              <a:t>Primjer</a:t>
            </a:r>
            <a:endParaRPr sz="15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65999" y="3564000"/>
            <a:ext cx="6749999" cy="3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>
                <a:solidFill>
                  <a:srgbClr val="2A343D"/>
                </a:solidFill>
                <a:latin typeface="Aptos"/>
              </a:rPr>
              <a:t>„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puno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banana u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panju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” → p u n o b a n a n a u p a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nj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>
                <a:solidFill>
                  <a:srgbClr val="2A343D"/>
                </a:solidFill>
                <a:latin typeface="Aptos"/>
              </a:rPr>
              <a:t>`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nj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` se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broji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kao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jedan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fonem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razmaci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se ne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broje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 dirty="0" err="1">
                <a:solidFill>
                  <a:srgbClr val="1F5D7A"/>
                </a:solidFill>
                <a:latin typeface="Aptos"/>
              </a:rPr>
              <a:t>Implementirani</a:t>
            </a:r>
            <a:r>
              <a:rPr sz="20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F5D7A"/>
                </a:solidFill>
                <a:latin typeface="Aptos"/>
              </a:rPr>
              <a:t>postupak</a:t>
            </a:r>
            <a:r>
              <a:rPr sz="2000" b="1" dirty="0">
                <a:solidFill>
                  <a:srgbClr val="1F5D7A"/>
                </a:solidFill>
                <a:latin typeface="Aptos"/>
              </a:rPr>
              <a:t>: </a:t>
            </a:r>
            <a:r>
              <a:rPr sz="2000" b="1" dirty="0" err="1">
                <a:solidFill>
                  <a:srgbClr val="1F5D7A"/>
                </a:solidFill>
                <a:latin typeface="Aptos"/>
              </a:rPr>
              <a:t>generiranje</a:t>
            </a:r>
            <a:r>
              <a:rPr sz="2000" b="1" dirty="0">
                <a:solidFill>
                  <a:srgbClr val="1F5D7A"/>
                </a:solidFill>
                <a:latin typeface="Aptos"/>
              </a:rPr>
              <a:t> + </a:t>
            </a:r>
            <a:r>
              <a:rPr sz="2000" b="1" dirty="0" err="1">
                <a:solidFill>
                  <a:srgbClr val="1F5D7A"/>
                </a:solidFill>
                <a:latin typeface="Aptos"/>
              </a:rPr>
              <a:t>deterministička</a:t>
            </a:r>
            <a:r>
              <a:rPr sz="20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F5D7A"/>
                </a:solidFill>
                <a:latin typeface="Aptos"/>
              </a:rPr>
              <a:t>validacija</a:t>
            </a:r>
            <a:endParaRPr sz="20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2394000"/>
            <a:ext cx="1278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 err="1">
                <a:solidFill>
                  <a:srgbClr val="2A343D"/>
                </a:solidFill>
                <a:latin typeface="Aptos"/>
              </a:rPr>
              <a:t>klasa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zasićenje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tip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teksta</a:t>
            </a:r>
            <a:endParaRPr sz="95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81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1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8000" y="2394000"/>
            <a:ext cx="1139804" cy="482628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 err="1">
                <a:solidFill>
                  <a:srgbClr val="2A343D"/>
                </a:solidFill>
                <a:latin typeface="Aptos"/>
              </a:rPr>
              <a:t>ChatGPT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Plus</a:t>
            </a:r>
            <a:r>
              <a:rPr lang="hr-HR" sz="950" b="0" dirty="0">
                <a:solidFill>
                  <a:srgbClr val="2A343D"/>
                </a:solidFill>
                <a:latin typeface="Aptos"/>
              </a:rPr>
              <a:t> 5.5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ili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Ollama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</a:t>
            </a:r>
            <a:r>
              <a:rPr lang="hr-HR" sz="950" dirty="0">
                <a:solidFill>
                  <a:srgbClr val="2A343D"/>
                </a:solidFill>
                <a:latin typeface="Aptos"/>
              </a:rPr>
              <a:t>llama3.1:8b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generira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kandidate</a:t>
            </a:r>
            <a:endParaRPr sz="95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4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4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fonemizator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8000" y="2394000"/>
            <a:ext cx="1278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 err="1">
                <a:solidFill>
                  <a:srgbClr val="2A343D"/>
                </a:solidFill>
                <a:latin typeface="Aptos"/>
              </a:rPr>
              <a:t>normalizacija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+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dž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/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lj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/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nj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longest-match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7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validacija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8000" y="2394000"/>
            <a:ext cx="1278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>
                <a:solidFill>
                  <a:srgbClr val="2A343D"/>
                </a:solidFill>
                <a:latin typeface="Aptos"/>
              </a:rPr>
              <a:t>SL,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znakovi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3–5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duplikati</a:t>
            </a:r>
            <a:endParaRPr sz="95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leksika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8000" y="2394000"/>
            <a:ext cx="1278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 err="1">
                <a:solidFill>
                  <a:srgbClr val="2A343D"/>
                </a:solidFill>
                <a:latin typeface="Aptos"/>
              </a:rPr>
              <a:t>Hunspell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+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ručni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HJP word-review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3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izvještaj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8000" y="2394000"/>
            <a:ext cx="1139804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>
                <a:solidFill>
                  <a:srgbClr val="2A343D"/>
                </a:solidFill>
                <a:latin typeface="Aptos"/>
              </a:rPr>
              <a:t>CSV, Markdown,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tablice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greške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PCD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3600000"/>
            <a:ext cx="828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 dirty="0" err="1">
                <a:solidFill>
                  <a:srgbClr val="1F5D7A"/>
                </a:solidFill>
                <a:latin typeface="Aptos"/>
              </a:rPr>
              <a:t>Sva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čitanja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i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pisanja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 CSV-a 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rade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 u UTF-8, 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tako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 da se 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čuvaju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 č, ć, đ, š, ž 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i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fonemi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dž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/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lj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/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nj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 dirty="0" err="1">
                <a:solidFill>
                  <a:srgbClr val="1F5D7A"/>
                </a:solidFill>
                <a:latin typeface="Aptos"/>
              </a:rPr>
              <a:t>Tehnička</a:t>
            </a:r>
            <a:r>
              <a:rPr sz="20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F5D7A"/>
                </a:solidFill>
                <a:latin typeface="Aptos"/>
              </a:rPr>
              <a:t>implementacija</a:t>
            </a:r>
            <a:r>
              <a:rPr sz="2000" b="1" dirty="0">
                <a:solidFill>
                  <a:srgbClr val="1F5D7A"/>
                </a:solidFill>
                <a:latin typeface="Aptos"/>
              </a:rPr>
              <a:t>: moduli </a:t>
            </a:r>
            <a:r>
              <a:rPr sz="2000" b="1" dirty="0" err="1">
                <a:solidFill>
                  <a:srgbClr val="1F5D7A"/>
                </a:solidFill>
                <a:latin typeface="Aptos"/>
              </a:rPr>
              <a:t>i</a:t>
            </a:r>
            <a:r>
              <a:rPr sz="20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F5D7A"/>
                </a:solidFill>
                <a:latin typeface="Aptos"/>
              </a:rPr>
              <a:t>podaci</a:t>
            </a:r>
            <a:endParaRPr sz="20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408205"/>
              </p:ext>
            </p:extLst>
          </p:nvPr>
        </p:nvGraphicFramePr>
        <p:xfrm>
          <a:off x="359850" y="1440311"/>
          <a:ext cx="9072000" cy="3453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657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Modul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Što radi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Ulaz/izlaz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65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343D"/>
                          </a:solidFill>
                          <a:latin typeface="Aptos"/>
                        </a:rPr>
                        <a:t>phonemizer.py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200" dirty="0">
                          <a:solidFill>
                            <a:srgbClr val="2A343D"/>
                          </a:solidFill>
                          <a:latin typeface="Aptos"/>
                        </a:rPr>
                        <a:t>n</a:t>
                      </a:r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ormalizacija</a:t>
                      </a:r>
                      <a:r>
                        <a:rPr lang="hr-HR" sz="1200" dirty="0">
                          <a:solidFill>
                            <a:srgbClr val="2A343D"/>
                          </a:solidFill>
                          <a:latin typeface="Aptos"/>
                        </a:rPr>
                        <a:t> (mala slova, uklanja interpunkcije, razmaci)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, UTF-8, </a:t>
                      </a:r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dž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/</a:t>
                      </a:r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lj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/</a:t>
                      </a:r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nj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 longest-match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A343D"/>
                          </a:solidFill>
                          <a:latin typeface="Aptos"/>
                        </a:rPr>
                        <a:t>tekst → fonemi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65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343D"/>
                          </a:solidFill>
                          <a:latin typeface="Aptos"/>
                        </a:rPr>
                        <a:t>phoneme_classes.py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mapiranje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fonema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 u N, SN, S, SV, 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fonem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 → </a:t>
                      </a:r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klasa</a:t>
                      </a:r>
                      <a:endParaRPr sz="120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65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343D"/>
                          </a:solidFill>
                          <a:latin typeface="Aptos"/>
                        </a:rPr>
                        <a:t>validators.py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200" dirty="0">
                          <a:solidFill>
                            <a:srgbClr val="2A343D"/>
                          </a:solidFill>
                          <a:latin typeface="Aptos"/>
                        </a:rPr>
                        <a:t>zasićenje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,</a:t>
                      </a:r>
                      <a:r>
                        <a:rPr lang="hr-HR" sz="1200" dirty="0">
                          <a:solidFill>
                            <a:srgbClr val="2A343D"/>
                          </a:solidFill>
                          <a:latin typeface="Aptos"/>
                        </a:rPr>
                        <a:t> dopušteni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znakovi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, </a:t>
                      </a:r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broj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riječi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, </a:t>
                      </a:r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duplikati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, </a:t>
                      </a:r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Hunspell</a:t>
                      </a:r>
                      <a:endParaRPr sz="120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200" dirty="0">
                          <a:solidFill>
                            <a:srgbClr val="2A343D"/>
                          </a:solidFill>
                          <a:latin typeface="Aptos"/>
                        </a:rPr>
                        <a:t>kandidat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 → </a:t>
                      </a:r>
                      <a:r>
                        <a:rPr lang="hr-HR" sz="1200" dirty="0">
                          <a:solidFill>
                            <a:srgbClr val="2A343D"/>
                          </a:solidFill>
                          <a:latin typeface="Aptos"/>
                        </a:rPr>
                        <a:t>prolaz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/</a:t>
                      </a:r>
                      <a:r>
                        <a:rPr lang="hr-HR" sz="1200" dirty="0">
                          <a:solidFill>
                            <a:srgbClr val="2A343D"/>
                          </a:solidFill>
                          <a:latin typeface="Aptos"/>
                        </a:rPr>
                        <a:t>iznimka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 + </a:t>
                      </a:r>
                      <a:r>
                        <a:rPr lang="hr-HR" sz="1200" dirty="0">
                          <a:solidFill>
                            <a:srgbClr val="2A343D"/>
                          </a:solidFill>
                          <a:latin typeface="Aptos"/>
                        </a:rPr>
                        <a:t>razlozi</a:t>
                      </a:r>
                      <a:endParaRPr sz="120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65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343D"/>
                          </a:solidFill>
                          <a:latin typeface="Aptos"/>
                        </a:rPr>
                        <a:t>metrics.py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PCD, </a:t>
                      </a:r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frekvencije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fonema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, </a:t>
                      </a:r>
                      <a:r>
                        <a:rPr lang="hr-HR" sz="1200" dirty="0">
                          <a:solidFill>
                            <a:srgbClr val="2A343D"/>
                          </a:solidFill>
                          <a:latin typeface="Aptos"/>
                        </a:rPr>
                        <a:t>unique/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duplicate rate</a:t>
                      </a:r>
                      <a:r>
                        <a:rPr lang="hr-HR" sz="1200" dirty="0">
                          <a:solidFill>
                            <a:srgbClr val="2A343D"/>
                          </a:solidFill>
                          <a:latin typeface="Aptos"/>
                        </a:rPr>
                        <a:t>, distribucija klasa fonema</a:t>
                      </a:r>
                      <a:endParaRPr sz="120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validirani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redovi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 → </a:t>
                      </a:r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metrike</a:t>
                      </a:r>
                      <a:endParaRPr sz="120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343D"/>
                          </a:solidFill>
                          <a:latin typeface="Aptos"/>
                        </a:rPr>
                        <a:t>tts.py / asr_eval.py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200" dirty="0">
                          <a:solidFill>
                            <a:srgbClr val="2A343D"/>
                          </a:solidFill>
                          <a:latin typeface="Aptos"/>
                        </a:rPr>
                        <a:t>TTS adapteri, 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WAV </a:t>
                      </a:r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normalizacija</a:t>
                      </a:r>
                      <a:r>
                        <a:rPr lang="hr-HR" sz="1200" dirty="0">
                          <a:solidFill>
                            <a:srgbClr val="2A343D"/>
                          </a:solidFill>
                          <a:latin typeface="Aptos"/>
                        </a:rPr>
                        <a:t> (WAV, mono, 16kHz, 16-bit PCM)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, </a:t>
                      </a:r>
                      <a:r>
                        <a:rPr lang="hr-HR" sz="1200" dirty="0">
                          <a:solidFill>
                            <a:srgbClr val="2A343D"/>
                          </a:solidFill>
                          <a:latin typeface="Aptos"/>
                        </a:rPr>
                        <a:t>ASR transkripcija (faster_whisper(large-v3-turbo)), 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WER/CER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validirani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tekst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 →</a:t>
                      </a:r>
                      <a:r>
                        <a:rPr lang="hr-HR" sz="1200" dirty="0">
                          <a:solidFill>
                            <a:srgbClr val="2A343D"/>
                          </a:solidFill>
                          <a:latin typeface="+mn-lt"/>
                        </a:rPr>
                        <a:t> TTS → </a:t>
                      </a:r>
                      <a:r>
                        <a:rPr sz="1200" dirty="0">
                          <a:solidFill>
                            <a:srgbClr val="2A343D"/>
                          </a:solidFill>
                          <a:latin typeface="Aptos"/>
                        </a:rPr>
                        <a:t>audio </a:t>
                      </a:r>
                      <a:r>
                        <a:rPr sz="1200" dirty="0" err="1">
                          <a:solidFill>
                            <a:srgbClr val="2A343D"/>
                          </a:solidFill>
                          <a:latin typeface="Aptos"/>
                        </a:rPr>
                        <a:t>evaluacija</a:t>
                      </a:r>
                      <a:endParaRPr sz="120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Dizajn eksperimenata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82056" y="165600"/>
            <a:ext cx="215888" cy="236406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 dirty="0">
                <a:solidFill>
                  <a:srgbClr val="1F5D7A"/>
                </a:solidFill>
                <a:latin typeface="Aptos"/>
              </a:rPr>
              <a:t>0</a:t>
            </a:r>
            <a:r>
              <a:rPr lang="hr-HR" sz="1300" b="1" dirty="0">
                <a:solidFill>
                  <a:srgbClr val="1F5D7A"/>
                </a:solidFill>
                <a:latin typeface="Aptos"/>
              </a:rPr>
              <a:t>8</a:t>
            </a:r>
            <a:endParaRPr sz="13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872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Reprodukcija 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430000" cy="149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Riječi: 5 klasa × 5 SL × 11 = 275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Rečenice: 5 klasa × 2 SL × 21 = 210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Prompt: paper_style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Izvor: ChatGPT Plus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4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4000" y="1080000"/>
            <a:ext cx="64800" cy="187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43250" y="1144408"/>
            <a:ext cx="2898001" cy="267184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/>
            <a:r>
              <a:rPr lang="hr-HR" sz="1500" b="1" dirty="0">
                <a:solidFill>
                  <a:srgbClr val="1F5D7A"/>
                </a:solidFill>
                <a:latin typeface="Aptos"/>
              </a:rPr>
              <a:t>U</a:t>
            </a:r>
            <a:r>
              <a:rPr sz="1500" b="1" dirty="0" err="1">
                <a:solidFill>
                  <a:srgbClr val="1F5D7A"/>
                </a:solidFill>
                <a:latin typeface="Aptos"/>
              </a:rPr>
              <a:t>sporedba</a:t>
            </a:r>
            <a:r>
              <a:rPr lang="hr-HR" sz="1500" b="1" dirty="0">
                <a:solidFill>
                  <a:srgbClr val="1F5D7A"/>
                </a:solidFill>
                <a:latin typeface="Aptos"/>
              </a:rPr>
              <a:t> ChatGPT-Ollama</a:t>
            </a:r>
            <a:endParaRPr sz="15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89999" y="1422000"/>
            <a:ext cx="2430000" cy="149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>
                <a:solidFill>
                  <a:srgbClr val="2A343D"/>
                </a:solidFill>
                <a:latin typeface="Aptos"/>
              </a:rPr>
              <a:t>5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klasa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× 2 SL × 2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tipa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× 2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prompta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× 20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 err="1">
                <a:solidFill>
                  <a:srgbClr val="2A343D"/>
                </a:solidFill>
                <a:latin typeface="Aptos"/>
              </a:rPr>
              <a:t>ChatGPT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Plus: 797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kandidata</a:t>
            </a:r>
            <a:endParaRPr sz="130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 err="1">
                <a:solidFill>
                  <a:srgbClr val="2A343D"/>
                </a:solidFill>
                <a:latin typeface="Aptos"/>
              </a:rPr>
              <a:t>Ollama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: 757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kandidata</a:t>
            </a:r>
            <a:endParaRPr sz="130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696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96000" y="1080000"/>
            <a:ext cx="64800" cy="1872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21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Audio faza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999" y="1422000"/>
            <a:ext cx="2430000" cy="149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>
                <a:solidFill>
                  <a:srgbClr val="2A343D"/>
                </a:solidFill>
                <a:latin typeface="Aptos"/>
              </a:rPr>
              <a:t>TTS-ready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skup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: 355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kandidata</a:t>
            </a:r>
            <a:endParaRPr sz="130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 err="1">
                <a:solidFill>
                  <a:srgbClr val="2A343D"/>
                </a:solidFill>
                <a:latin typeface="Aptos"/>
              </a:rPr>
              <a:t>Uravnoteženi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TTS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podskup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: 96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 err="1">
                <a:solidFill>
                  <a:srgbClr val="2A343D"/>
                </a:solidFill>
                <a:latin typeface="Aptos"/>
              </a:rPr>
              <a:t>Sinteza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: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eSpeak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NG, Coqui VITS HR, SpeechT5 HR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9042" y="244800"/>
            <a:ext cx="2153919" cy="344128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 dirty="0" err="1">
                <a:solidFill>
                  <a:srgbClr val="1F5D7A"/>
                </a:solidFill>
                <a:latin typeface="Aptos"/>
              </a:rPr>
              <a:t>Reprodukcija</a:t>
            </a:r>
            <a:r>
              <a:rPr sz="20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F5D7A"/>
                </a:solidFill>
                <a:latin typeface="Aptos"/>
              </a:rPr>
              <a:t>rada</a:t>
            </a:r>
            <a:endParaRPr sz="20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82056" y="165600"/>
            <a:ext cx="215888" cy="236406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 dirty="0">
                <a:solidFill>
                  <a:srgbClr val="1F5D7A"/>
                </a:solidFill>
                <a:latin typeface="Aptos"/>
              </a:rPr>
              <a:t>0</a:t>
            </a:r>
            <a:r>
              <a:rPr lang="hr-HR" sz="1300" b="1" dirty="0">
                <a:solidFill>
                  <a:srgbClr val="1F5D7A"/>
                </a:solidFill>
                <a:latin typeface="Aptos"/>
              </a:rPr>
              <a:t>9</a:t>
            </a:r>
            <a:endParaRPr sz="13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080000"/>
          <a:ext cx="4356000" cy="1945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7428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40 %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60 %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80 %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27,27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54,55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LM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9,09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54,55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MH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45,45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27,27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432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H2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9,09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384953"/>
              </p:ext>
            </p:extLst>
          </p:nvPr>
        </p:nvGraphicFramePr>
        <p:xfrm>
          <a:off x="5076000" y="1080000"/>
          <a:ext cx="3855198" cy="1691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Naša</a:t>
                      </a:r>
                    </a:p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40 %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60 %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80 %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 dirty="0">
                          <a:solidFill>
                            <a:srgbClr val="2A343D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dirty="0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" y="3311999"/>
            <a:ext cx="8712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3311999"/>
            <a:ext cx="64800" cy="972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999" y="3401999"/>
            <a:ext cx="847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Isti indikator za riječi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999" y="3653999"/>
            <a:ext cx="8478000" cy="392258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80" b="0" dirty="0">
                <a:solidFill>
                  <a:srgbClr val="2A343D"/>
                </a:solidFill>
                <a:latin typeface="Aptos"/>
              </a:rPr>
              <a:t>Paper Table II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prikazuje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postotak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koje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zadovoljavaju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oba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kriterija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: saturation level + HJP/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standardni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jezik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.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Naša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analogna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tablica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koristi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saturation pass +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ručni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HJP word-review.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Reprodukcija rada: tablica za rečenice kao u paperu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82056" y="165600"/>
            <a:ext cx="215888" cy="236406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 dirty="0">
                <a:solidFill>
                  <a:srgbClr val="1F5D7A"/>
                </a:solidFill>
                <a:latin typeface="Aptos"/>
              </a:rPr>
              <a:t>1</a:t>
            </a:r>
            <a:r>
              <a:rPr lang="hr-HR" sz="1300" b="1" dirty="0">
                <a:solidFill>
                  <a:srgbClr val="1F5D7A"/>
                </a:solidFill>
                <a:latin typeface="Aptos"/>
              </a:rPr>
              <a:t>0</a:t>
            </a:r>
            <a:endParaRPr sz="13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0000" y="1116000"/>
          <a:ext cx="3527998" cy="177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LM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33,33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MH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00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66,67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44000" y="1116000"/>
          <a:ext cx="3527998" cy="177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Naša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76,19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90,48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85,71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00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85,71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33,33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76000" y="3168000"/>
            <a:ext cx="8640000" cy="10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00" y="3168000"/>
            <a:ext cx="64800" cy="1044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1999" y="3258000"/>
            <a:ext cx="840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Isti indikator za rečenice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999" y="3510000"/>
            <a:ext cx="8406000" cy="398413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 dirty="0">
                <a:solidFill>
                  <a:srgbClr val="2A343D"/>
                </a:solidFill>
                <a:latin typeface="Aptos"/>
              </a:rPr>
              <a:t>Paper Table III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prikazuje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postotak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rečenica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koje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zadovoljavaju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lang="hr-HR" sz="1200" dirty="0">
                <a:solidFill>
                  <a:srgbClr val="2A343D"/>
                </a:solidFill>
                <a:latin typeface="Aptos"/>
              </a:rPr>
              <a:t>kriterij zasićenja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.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Naša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analogna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tablica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koristi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isti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lang="hr-HR" sz="1200" b="0" dirty="0">
                <a:solidFill>
                  <a:srgbClr val="2A343D"/>
                </a:solidFill>
                <a:latin typeface="Aptos"/>
              </a:rPr>
              <a:t> kriterij.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Rezultat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je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vrlo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jak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na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50 %, a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na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70 %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jasno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pada za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klasu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2: ChatGPT Plus vs. lokalni Ollama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82056" y="165600"/>
            <a:ext cx="215888" cy="236406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 dirty="0">
                <a:solidFill>
                  <a:srgbClr val="1F5D7A"/>
                </a:solidFill>
                <a:latin typeface="Aptos"/>
              </a:rPr>
              <a:t>1</a:t>
            </a:r>
            <a:r>
              <a:rPr lang="hr-HR" sz="1300" b="1" dirty="0">
                <a:solidFill>
                  <a:srgbClr val="1F5D7A"/>
                </a:solidFill>
                <a:latin typeface="Aptos"/>
              </a:rPr>
              <a:t>1</a:t>
            </a:r>
            <a:endParaRPr sz="13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093226"/>
              </p:ext>
            </p:extLst>
          </p:nvPr>
        </p:nvGraphicFramePr>
        <p:xfrm>
          <a:off x="432000" y="1080000"/>
          <a:ext cx="4571999" cy="2952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0" y="1206000"/>
          <a:ext cx="3888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Izvor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valid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glavne greške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ChatGPT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>
                          <a:solidFill>
                            <a:srgbClr val="2A343D"/>
                          </a:solidFill>
                          <a:latin typeface="Aptos"/>
                        </a:rPr>
                        <a:t>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>
                          <a:solidFill>
                            <a:srgbClr val="2A343D"/>
                          </a:solidFill>
                          <a:latin typeface="Aptos"/>
                        </a:rPr>
                        <a:t>48,6 %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 err="1">
                          <a:solidFill>
                            <a:srgbClr val="2A343D"/>
                          </a:solidFill>
                          <a:latin typeface="Aptos"/>
                        </a:rPr>
                        <a:t>duplikati</a:t>
                      </a:r>
                      <a:r>
                        <a:rPr sz="850" dirty="0">
                          <a:solidFill>
                            <a:srgbClr val="2A343D"/>
                          </a:solidFill>
                          <a:latin typeface="Aptos"/>
                        </a:rPr>
                        <a:t>=361; SL=112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Ollama llama3.1:8b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>
                          <a:solidFill>
                            <a:srgbClr val="2A343D"/>
                          </a:solidFill>
                          <a:latin typeface="Aptos"/>
                        </a:rPr>
                        <a:t>757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>
                          <a:solidFill>
                            <a:srgbClr val="2A343D"/>
                          </a:solidFill>
                          <a:latin typeface="Aptos"/>
                        </a:rPr>
                        <a:t>4,5 %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>
                          <a:solidFill>
                            <a:srgbClr val="2A343D"/>
                          </a:solidFill>
                          <a:latin typeface="Aptos"/>
                        </a:rPr>
                        <a:t>SL=722; </a:t>
                      </a:r>
                      <a:r>
                        <a:rPr sz="850" dirty="0" err="1">
                          <a:solidFill>
                            <a:srgbClr val="2A343D"/>
                          </a:solidFill>
                          <a:latin typeface="Aptos"/>
                        </a:rPr>
                        <a:t>broj</a:t>
                      </a:r>
                      <a:r>
                        <a:rPr sz="85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850" dirty="0" err="1">
                          <a:solidFill>
                            <a:srgbClr val="2A343D"/>
                          </a:solidFill>
                          <a:latin typeface="Aptos"/>
                        </a:rPr>
                        <a:t>riječi</a:t>
                      </a:r>
                      <a:r>
                        <a:rPr sz="850" dirty="0">
                          <a:solidFill>
                            <a:srgbClr val="2A343D"/>
                          </a:solidFill>
                          <a:latin typeface="Aptos"/>
                        </a:rPr>
                        <a:t>=195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0" y="2628000"/>
            <a:ext cx="3888000" cy="125166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0" y="2628000"/>
            <a:ext cx="64800" cy="1007999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25999" y="2718000"/>
            <a:ext cx="3654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Interpretacija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5999" y="2970000"/>
            <a:ext cx="3654000" cy="629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30" b="0" dirty="0" err="1">
                <a:solidFill>
                  <a:srgbClr val="2A343D"/>
                </a:solidFill>
                <a:latin typeface="Aptos"/>
              </a:rPr>
              <a:t>ChatGPT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Plus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najčešće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razumije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fonemski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zadatak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ali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se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ponavlja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.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Ollama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uglavnom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ne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pogađa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ciljno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zasićenje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, pa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nije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dovoljno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pouzdan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u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ovoj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konfiguraciji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18939" y="244800"/>
            <a:ext cx="554121" cy="344128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 dirty="0">
                <a:solidFill>
                  <a:srgbClr val="1F5D7A"/>
                </a:solidFill>
                <a:latin typeface="Aptos"/>
              </a:rPr>
              <a:t>PCD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82056" y="165600"/>
            <a:ext cx="215888" cy="236406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 dirty="0">
                <a:solidFill>
                  <a:srgbClr val="1F5D7A"/>
                </a:solidFill>
                <a:latin typeface="Aptos"/>
              </a:rPr>
              <a:t>1</a:t>
            </a:r>
            <a:r>
              <a:rPr lang="hr-HR" sz="1300" b="1" dirty="0">
                <a:solidFill>
                  <a:srgbClr val="1F5D7A"/>
                </a:solidFill>
                <a:latin typeface="Aptos"/>
              </a:rPr>
              <a:t>2</a:t>
            </a:r>
            <a:endParaRPr sz="13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F7F36C7-25CF-45AA-9268-E2FD4B9C7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263358"/>
              </p:ext>
            </p:extLst>
          </p:nvPr>
        </p:nvGraphicFramePr>
        <p:xfrm>
          <a:off x="146121" y="2489950"/>
          <a:ext cx="9415891" cy="2055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8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9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966">
                  <a:extLst>
                    <a:ext uri="{9D8B030D-6E8A-4147-A177-3AD203B41FA5}">
                      <a16:colId xmlns:a16="http://schemas.microsoft.com/office/drawing/2014/main" val="736943496"/>
                    </a:ext>
                  </a:extLst>
                </a:gridCol>
              </a:tblGrid>
              <a:tr h="912940">
                <a:tc>
                  <a:txBody>
                    <a:bodyPr/>
                    <a:lstStyle/>
                    <a:p>
                      <a:pPr algn="ctr"/>
                      <a:r>
                        <a:rPr sz="919" b="1" dirty="0">
                          <a:solidFill>
                            <a:srgbClr val="FFFFFF"/>
                          </a:solidFill>
                          <a:latin typeface="Aptos"/>
                        </a:rPr>
                        <a:t>Avg. PCD po </a:t>
                      </a:r>
                      <a:r>
                        <a:rPr sz="919" b="1" dirty="0" err="1">
                          <a:solidFill>
                            <a:srgbClr val="FFFFFF"/>
                          </a:solidFill>
                          <a:latin typeface="Aptos"/>
                        </a:rPr>
                        <a:t>klasama</a:t>
                      </a:r>
                      <a:endParaRPr sz="919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 dirty="0">
                          <a:solidFill>
                            <a:srgbClr val="FFFFFF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919" b="1" dirty="0">
                          <a:solidFill>
                            <a:srgbClr val="FFFFFF"/>
                          </a:solidFill>
                          <a:latin typeface="Aptos"/>
                        </a:rPr>
                        <a:t>PCD grupa</a:t>
                      </a:r>
                      <a:endParaRPr sz="919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492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ChatGPT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0,487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919" dirty="0">
                          <a:solidFill>
                            <a:srgbClr val="2A343D"/>
                          </a:solidFill>
                          <a:latin typeface="Aptos"/>
                        </a:rPr>
                        <a:t>35</a:t>
                      </a:r>
                      <a:endParaRPr sz="919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492">
                <a:tc>
                  <a:txBody>
                    <a:bodyPr/>
                    <a:lstStyle/>
                    <a:p>
                      <a:pPr algn="l"/>
                      <a:r>
                        <a:rPr sz="919" dirty="0" err="1">
                          <a:solidFill>
                            <a:srgbClr val="2A343D"/>
                          </a:solidFill>
                          <a:latin typeface="Aptos"/>
                        </a:rPr>
                        <a:t>Ollama</a:t>
                      </a:r>
                      <a:r>
                        <a:rPr sz="919" dirty="0">
                          <a:solidFill>
                            <a:srgbClr val="2A343D"/>
                          </a:solidFill>
                          <a:latin typeface="Aptos"/>
                        </a:rPr>
                        <a:t> llama3.1:8b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0,537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0,376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0,522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dirty="0">
                          <a:solidFill>
                            <a:srgbClr val="2A343D"/>
                          </a:solidFill>
                          <a:latin typeface="Aptos"/>
                        </a:rPr>
                        <a:t>0,667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919" dirty="0">
                          <a:solidFill>
                            <a:srgbClr val="2A343D"/>
                          </a:solidFill>
                          <a:latin typeface="Aptos"/>
                        </a:rPr>
                        <a:t>11</a:t>
                      </a:r>
                      <a:endParaRPr sz="919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2C2851-17C6-46A6-AA0E-7622564D87AD}"/>
                  </a:ext>
                </a:extLst>
              </p:cNvPr>
              <p:cNvSpPr txBox="1"/>
              <p:nvPr/>
            </p:nvSpPr>
            <p:spPr>
              <a:xfrm>
                <a:off x="146120" y="1199974"/>
                <a:ext cx="10053880" cy="7956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𝑃𝐶𝐷</m:t>
                      </m:r>
                      <m:d>
                        <m:dPr>
                          <m:ctrlPr>
                            <a:rPr lang="hr-H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r-H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hr-H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hr-H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r-H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r-H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hr-HR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hr-H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hr-H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hr-H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𝑏𝑟𝑜𝑗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𝑓𝑜𝑛𝑒𝑚𝑎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𝑑𝑢𝑙𝑗𝑒𝑔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𝑘𝑎𝑛𝑑𝑖𝑑𝑎𝑡𝑎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𝑏𝑟𝑜𝑗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𝑧𝑎𝑗𝑒𝑑𝑛𝑖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č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𝑘𝑖h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𝑓𝑜𝑛𝑒𝑚𝑎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𝑢𝑧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𝑏𝑟𝑜𝑗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𝑝𝑜𝑛𝑎𝑣𝑙𝑗𝑎𝑛𝑗𝑎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r-HR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2C2851-17C6-46A6-AA0E-7622564D8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20" y="1199974"/>
                <a:ext cx="10053880" cy="795602"/>
              </a:xfrm>
              <a:prstGeom prst="rect">
                <a:avLst/>
              </a:prstGeom>
              <a:blipFill>
                <a:blip r:embed="rId2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Leksička provjera: Hunspell screening + ručni HJP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82056" y="165600"/>
            <a:ext cx="215888" cy="236406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 dirty="0">
                <a:solidFill>
                  <a:srgbClr val="1F5D7A"/>
                </a:solidFill>
                <a:latin typeface="Aptos"/>
              </a:rPr>
              <a:t>1</a:t>
            </a:r>
            <a:r>
              <a:rPr lang="hr-HR" sz="1300" b="1" dirty="0">
                <a:solidFill>
                  <a:srgbClr val="1F5D7A"/>
                </a:solidFill>
                <a:latin typeface="Aptos"/>
              </a:rPr>
              <a:t>3</a:t>
            </a:r>
            <a:endParaRPr sz="13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0000" y="917999"/>
            <a:ext cx="2772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917999"/>
            <a:ext cx="64800" cy="1764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5999" y="1007999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 dirty="0" err="1">
                <a:solidFill>
                  <a:srgbClr val="1F5D7A"/>
                </a:solidFill>
                <a:latin typeface="Aptos"/>
              </a:rPr>
              <a:t>Hunspell</a:t>
            </a:r>
            <a:endParaRPr sz="15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5999" y="1259999"/>
            <a:ext cx="2538000" cy="1386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 dirty="0" err="1">
                <a:solidFill>
                  <a:srgbClr val="2A343D"/>
                </a:solidFill>
                <a:latin typeface="Aptos"/>
              </a:rPr>
              <a:t>Automatski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provjerava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svaku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normaliziranu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riječ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preko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hrvatskog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rječnika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`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hr_HR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`.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12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 dirty="0" err="1">
                <a:solidFill>
                  <a:srgbClr val="2A343D"/>
                </a:solidFill>
                <a:latin typeface="Aptos"/>
              </a:rPr>
              <a:t>Izlaz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: yes / no / unsure +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popis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nepoznatih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ili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odbačenih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917999"/>
            <a:ext cx="2772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1999" y="917999"/>
            <a:ext cx="64800" cy="1764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7998" y="1007999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 dirty="0" err="1">
                <a:solidFill>
                  <a:srgbClr val="1F5D7A"/>
                </a:solidFill>
                <a:latin typeface="Aptos"/>
              </a:rPr>
              <a:t>Što</a:t>
            </a:r>
            <a:r>
              <a:rPr sz="15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1F5D7A"/>
                </a:solidFill>
                <a:latin typeface="Aptos"/>
              </a:rPr>
              <a:t>Hunspell</a:t>
            </a:r>
            <a:r>
              <a:rPr sz="15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1F5D7A"/>
                </a:solidFill>
                <a:latin typeface="Aptos"/>
              </a:rPr>
              <a:t>nije</a:t>
            </a:r>
            <a:endParaRPr sz="15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17998" y="1259999"/>
            <a:ext cx="2538000" cy="1386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 dirty="0" err="1">
                <a:solidFill>
                  <a:srgbClr val="2A343D"/>
                </a:solidFill>
                <a:latin typeface="Aptos"/>
              </a:rPr>
              <a:t>Nije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HJP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dokaz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 dirty="0">
                <a:solidFill>
                  <a:srgbClr val="2A343D"/>
                </a:solidFill>
                <a:latin typeface="Aptos"/>
              </a:rPr>
              <a:t>Ne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provjerava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značenje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rečenice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 dirty="0">
                <a:solidFill>
                  <a:srgbClr val="2A343D"/>
                </a:solidFill>
                <a:latin typeface="Aptos"/>
              </a:rPr>
              <a:t>Ne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provjerava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kliničku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prikladnost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 dirty="0" err="1">
                <a:solidFill>
                  <a:srgbClr val="2A343D"/>
                </a:solidFill>
                <a:latin typeface="Aptos"/>
              </a:rPr>
              <a:t>Može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odbiti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valjane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oblike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ili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prihvatiti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kontekstualno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loše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917999"/>
            <a:ext cx="2772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917999"/>
            <a:ext cx="64800" cy="1764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007999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Ručni HJP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259999"/>
            <a:ext cx="2538000" cy="1386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 dirty="0" err="1">
                <a:solidFill>
                  <a:srgbClr val="2A343D"/>
                </a:solidFill>
                <a:latin typeface="Aptos"/>
              </a:rPr>
              <a:t>Izvoz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jedinstvenih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→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ručno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`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hjp_valid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`.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12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 dirty="0" err="1">
                <a:solidFill>
                  <a:srgbClr val="2A343D"/>
                </a:solidFill>
                <a:latin typeface="Aptos"/>
              </a:rPr>
              <a:t>Riječ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: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validna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ako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je ta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riječ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yes.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 dirty="0" err="1">
                <a:solidFill>
                  <a:srgbClr val="2A343D"/>
                </a:solidFill>
                <a:latin typeface="Aptos"/>
              </a:rPr>
              <a:t>Rečenica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: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validna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samo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ako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su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sve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yes.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3999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6951" y="3042000"/>
            <a:ext cx="1822098" cy="328739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 dirty="0">
                <a:solidFill>
                  <a:srgbClr val="1F5D7A"/>
                </a:solidFill>
                <a:latin typeface="Aptos"/>
              </a:rPr>
              <a:t>95,4 %</a:t>
            </a:r>
            <a:r>
              <a:rPr lang="hr-HR" sz="1900" b="1" dirty="0">
                <a:solidFill>
                  <a:srgbClr val="1F5D7A"/>
                </a:solidFill>
                <a:latin typeface="Aptos"/>
              </a:rPr>
              <a:t> (760/797)</a:t>
            </a:r>
            <a:endParaRPr sz="19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9999" y="3312000"/>
            <a:ext cx="1836000" cy="37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ChatGPT Plus Hunspell-valid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00000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00000" y="3042000"/>
            <a:ext cx="190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 dirty="0">
                <a:solidFill>
                  <a:srgbClr val="4F945D"/>
                </a:solidFill>
                <a:latin typeface="Aptos"/>
              </a:rPr>
              <a:t>776 / 797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6000" y="3312000"/>
            <a:ext cx="1836000" cy="37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HJP-valid nakon word-review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6000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96000" y="3042000"/>
            <a:ext cx="190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B74F4F"/>
                </a:solidFill>
                <a:latin typeface="Aptos"/>
              </a:rPr>
              <a:t>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2000" y="3312000"/>
            <a:ext cx="1836000" cy="37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HJP-invalid kandidata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92000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92000" y="3042000"/>
            <a:ext cx="190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 dirty="0">
                <a:solidFill>
                  <a:srgbClr val="22A1B2"/>
                </a:solidFill>
                <a:latin typeface="Aptos"/>
              </a:rPr>
              <a:t>355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8000" y="3312000"/>
            <a:ext cx="1836000" cy="37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TTS-ready: tehnički + HJP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točno utječe na rezultate?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82056" y="165600"/>
            <a:ext cx="215888" cy="236406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 dirty="0">
                <a:solidFill>
                  <a:srgbClr val="1F5D7A"/>
                </a:solidFill>
                <a:latin typeface="Aptos"/>
              </a:rPr>
              <a:t>1</a:t>
            </a:r>
            <a:r>
              <a:rPr lang="hr-HR" sz="1300" b="1" dirty="0">
                <a:solidFill>
                  <a:srgbClr val="1F5D7A"/>
                </a:solidFill>
                <a:latin typeface="Aptos"/>
              </a:rPr>
              <a:t>4</a:t>
            </a:r>
            <a:endParaRPr sz="13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026229"/>
              </p:ext>
            </p:extLst>
          </p:nvPr>
        </p:nvGraphicFramePr>
        <p:xfrm>
          <a:off x="324000" y="917999"/>
          <a:ext cx="9144000" cy="438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44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Rezultat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Što mjeri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Što ga ruši / smanjuje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Kako se koristi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4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A343D"/>
                          </a:solidFill>
                          <a:latin typeface="Aptos"/>
                        </a:rPr>
                        <a:t>SL prolaznost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samo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fonemi</a:t>
                      </a:r>
                      <a:endParaRPr sz="160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target_count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/ total ≥ 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glavni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fonetski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kriterij</a:t>
                      </a:r>
                      <a:endParaRPr sz="160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4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A343D"/>
                          </a:solidFill>
                          <a:latin typeface="Aptos"/>
                        </a:rPr>
                        <a:t>Tehnička valjanost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struktura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+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fonemi</a:t>
                      </a:r>
                      <a:endParaRPr sz="160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SL,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znakovi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,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broj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riječi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,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duplikat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,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ponavljanje</a:t>
                      </a:r>
                      <a:endParaRPr sz="160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A343D"/>
                          </a:solidFill>
                          <a:latin typeface="Aptos"/>
                        </a:rPr>
                        <a:t>osnovni Python pass/fail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4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A343D"/>
                          </a:solidFill>
                          <a:latin typeface="Aptos"/>
                        </a:rPr>
                        <a:t>Hunspell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A343D"/>
                          </a:solidFill>
                          <a:latin typeface="Aptos"/>
                        </a:rPr>
                        <a:t>leksika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svaka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riječ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prihvaćena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u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hr_HR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rječniku</a:t>
                      </a:r>
                      <a:endParaRPr sz="160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A343D"/>
                          </a:solidFill>
                          <a:latin typeface="Aptos"/>
                        </a:rPr>
                        <a:t>automatski screening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4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A343D"/>
                          </a:solidFill>
                          <a:latin typeface="Aptos"/>
                        </a:rPr>
                        <a:t>HJP/manual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ručni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word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sve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riječi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u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kandidatu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imaju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hjp_valid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=yes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najbliže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kriteriju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iz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lang="hr-HR" sz="1600" dirty="0">
                          <a:solidFill>
                            <a:srgbClr val="2A343D"/>
                          </a:solidFill>
                          <a:latin typeface="Aptos"/>
                        </a:rPr>
                        <a:t>znanstvenog rada</a:t>
                      </a:r>
                      <a:endParaRPr sz="160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4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A343D"/>
                          </a:solidFill>
                          <a:latin typeface="Aptos"/>
                        </a:rPr>
                        <a:t>PCD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A343D"/>
                          </a:solidFill>
                          <a:latin typeface="Aptos"/>
                        </a:rPr>
                        <a:t>raznolikost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A343D"/>
                          </a:solidFill>
                          <a:latin typeface="Aptos"/>
                        </a:rPr>
                        <a:t>fonemska udaljenost među kandidatima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nije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lang="hr-HR" sz="1600" dirty="0">
                          <a:solidFill>
                            <a:srgbClr val="2A343D"/>
                          </a:solidFill>
                          <a:latin typeface="Aptos"/>
                        </a:rPr>
                        <a:t>prolaz/pad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nego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lang="hr-HR" sz="1600">
                          <a:solidFill>
                            <a:srgbClr val="2A343D"/>
                          </a:solidFill>
                          <a:latin typeface="Aptos"/>
                        </a:rPr>
                        <a:t>različitost</a:t>
                      </a:r>
                      <a:endParaRPr sz="160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4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A343D"/>
                          </a:solidFill>
                          <a:latin typeface="Aptos"/>
                        </a:rPr>
                        <a:t>TTS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A343D"/>
                          </a:solidFill>
                          <a:latin typeface="Aptos"/>
                        </a:rPr>
                        <a:t>audio tehnika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A343D"/>
                          </a:solidFill>
                          <a:latin typeface="Aptos"/>
                        </a:rPr>
                        <a:t>WAV postoji, mono, 16 kHz, 16-bit PCM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A343D"/>
                          </a:solidFill>
                          <a:latin typeface="Aptos"/>
                        </a:rPr>
                        <a:t>ne dokazuje prirodnost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4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A343D"/>
                          </a:solidFill>
                          <a:latin typeface="Aptos"/>
                        </a:rPr>
                        <a:t>WER/CER + slušanje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audio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razumljivost</a:t>
                      </a:r>
                      <a:endParaRPr sz="160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ASR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pogreške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+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ljudske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ocjene</a:t>
                      </a:r>
                      <a:endParaRPr sz="160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proxy +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subjektivna</a:t>
                      </a:r>
                      <a:r>
                        <a:rPr sz="160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1600" dirty="0" err="1">
                          <a:solidFill>
                            <a:srgbClr val="2A343D"/>
                          </a:solidFill>
                          <a:latin typeface="Aptos"/>
                        </a:rPr>
                        <a:t>provjera</a:t>
                      </a:r>
                      <a:endParaRPr sz="160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Audio faza: isti tekst, tri TTS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82056" y="165600"/>
            <a:ext cx="215888" cy="236406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 dirty="0">
                <a:solidFill>
                  <a:srgbClr val="1F5D7A"/>
                </a:solidFill>
                <a:latin typeface="Aptos"/>
              </a:rPr>
              <a:t>1</a:t>
            </a:r>
            <a:r>
              <a:rPr lang="hr-HR" sz="1300" b="1" dirty="0">
                <a:solidFill>
                  <a:srgbClr val="1F5D7A"/>
                </a:solidFill>
                <a:latin typeface="Aptos"/>
              </a:rPr>
              <a:t>5</a:t>
            </a:r>
            <a:endParaRPr sz="13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655999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 dirty="0" err="1">
                <a:solidFill>
                  <a:srgbClr val="1F5D7A"/>
                </a:solidFill>
                <a:latin typeface="Aptos"/>
              </a:rPr>
              <a:t>Ulaz</a:t>
            </a:r>
            <a:endParaRPr sz="15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430000" cy="1277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Samo kandidati koji su prošli: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tehničku validaciju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Hunspell screening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ručni HJP word-review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4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4000" y="1080000"/>
            <a:ext cx="64800" cy="1655999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9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 dirty="0">
                <a:solidFill>
                  <a:srgbClr val="1F5D7A"/>
                </a:solidFill>
                <a:latin typeface="Aptos"/>
              </a:rPr>
              <a:t>TTS </a:t>
            </a:r>
            <a:r>
              <a:rPr sz="1500" b="1" dirty="0" err="1">
                <a:solidFill>
                  <a:srgbClr val="1F5D7A"/>
                </a:solidFill>
                <a:latin typeface="Aptos"/>
              </a:rPr>
              <a:t>sustavi</a:t>
            </a:r>
            <a:endParaRPr sz="15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89999" y="1422000"/>
            <a:ext cx="2430000" cy="1277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eSpeak NG, hrvatski glas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Coqui VITS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SpeechT5 HR lokalni model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Svi dobivaju isti skup tekstova.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6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96000" y="1080000"/>
            <a:ext cx="64800" cy="1655999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21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Izlaz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999" y="1422000"/>
            <a:ext cx="2430000" cy="1277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Svi WAV-ovi normalizirani su na: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mono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16 kHz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16-bit PCM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Zatim ide ASR i slušna provjera.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491999"/>
            <a:ext cx="8496000" cy="32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250" b="0">
                <a:solidFill>
                  <a:srgbClr val="606C75"/>
                </a:solidFill>
                <a:latin typeface="Aptos"/>
              </a:rPr>
              <a:t>Uravnoteženi TTS podskup: 96 kandidata; skupina S / 70 % / riječ imala je samo 1 dostupni validirani kandidat.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TTS modeli: tip, arhitektura i korištene postavke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236406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1300" b="1" dirty="0">
                <a:solidFill>
                  <a:srgbClr val="1F5D7A"/>
                </a:solidFill>
                <a:latin typeface="Aptos"/>
              </a:rPr>
              <a:t>1</a:t>
            </a:r>
            <a:r>
              <a:rPr lang="hr-HR" sz="1300" b="1" dirty="0">
                <a:solidFill>
                  <a:srgbClr val="1F5D7A"/>
                </a:solidFill>
                <a:latin typeface="Aptos"/>
              </a:rPr>
              <a:t>6</a:t>
            </a:r>
            <a:endParaRPr sz="13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0000" y="1098000"/>
            <a:ext cx="2826000" cy="25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098000"/>
            <a:ext cx="64800" cy="2574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6800" y="1188000"/>
            <a:ext cx="25524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/>
            <a:r>
              <a:rPr sz="1450" b="1">
                <a:solidFill>
                  <a:srgbClr val="1F5D7A"/>
                </a:solidFill>
                <a:latin typeface="Aptos"/>
              </a:rPr>
              <a:t>eSpeak 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6800" y="1429200"/>
            <a:ext cx="1170000" cy="18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2800" y="1458000"/>
            <a:ext cx="1098000" cy="1008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819" b="1">
                <a:solidFill>
                  <a:srgbClr val="4F945D"/>
                </a:solidFill>
                <a:latin typeface="Aptos"/>
              </a:rPr>
              <a:t>rule-based / formant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800" y="1717200"/>
            <a:ext cx="2552400" cy="1224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/>
            <a:r>
              <a:rPr sz="880" b="1">
                <a:solidFill>
                  <a:srgbClr val="4F945D"/>
                </a:solidFill>
                <a:latin typeface="Aptos"/>
              </a:rPr>
              <a:t>Tip modela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800" y="1854000"/>
            <a:ext cx="2552400" cy="43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spcAft>
                <a:spcPts val="200"/>
              </a:spcAft>
            </a:pPr>
            <a:r>
              <a:rPr sz="930">
                <a:solidFill>
                  <a:srgbClr val="2A343D"/>
                </a:solidFill>
                <a:latin typeface="Aptos"/>
              </a:rPr>
              <a:t>klasični lokalni TTS bez neuronske mreže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2A343D"/>
                </a:solidFill>
                <a:latin typeface="Aptos"/>
              </a:rPr>
              <a:t>lagan, brz i potpuno offline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800" y="2350800"/>
            <a:ext cx="2552400" cy="1224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/>
            <a:r>
              <a:rPr sz="880" b="1">
                <a:solidFill>
                  <a:srgbClr val="4F945D"/>
                </a:solidFill>
                <a:latin typeface="Aptos"/>
              </a:rPr>
              <a:t>Arhitektura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800" y="2487600"/>
            <a:ext cx="2552400" cy="43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spcAft>
                <a:spcPts val="200"/>
              </a:spcAft>
            </a:pPr>
            <a:r>
              <a:rPr sz="930">
                <a:solidFill>
                  <a:srgbClr val="2A343D"/>
                </a:solidFill>
                <a:latin typeface="Aptos"/>
              </a:rPr>
              <a:t>tekst → pravila izgovora i prozodije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2A343D"/>
                </a:solidFill>
                <a:latin typeface="Aptos"/>
              </a:rPr>
              <a:t>→ formantna sinteza → waveform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800" y="2984400"/>
            <a:ext cx="2552400" cy="1224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/>
            <a:r>
              <a:rPr sz="880" b="1">
                <a:solidFill>
                  <a:srgbClr val="4F945D"/>
                </a:solidFill>
                <a:latin typeface="Aptos"/>
              </a:rPr>
              <a:t>Postavke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800" y="3121200"/>
            <a:ext cx="2552400" cy="43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spcAft>
                <a:spcPts val="200"/>
              </a:spcAft>
            </a:pPr>
            <a:r>
              <a:rPr sz="930" dirty="0">
                <a:solidFill>
                  <a:srgbClr val="2A343D"/>
                </a:solidFill>
                <a:latin typeface="Aptos"/>
              </a:rPr>
              <a:t>executable: </a:t>
            </a:r>
            <a:r>
              <a:rPr sz="930" dirty="0" err="1">
                <a:solidFill>
                  <a:srgbClr val="2A343D"/>
                </a:solidFill>
                <a:latin typeface="Aptos"/>
              </a:rPr>
              <a:t>espeak</a:t>
            </a:r>
            <a:r>
              <a:rPr sz="930" dirty="0">
                <a:solidFill>
                  <a:srgbClr val="2A343D"/>
                </a:solidFill>
                <a:latin typeface="Aptos"/>
              </a:rPr>
              <a:t>-ng</a:t>
            </a:r>
          </a:p>
          <a:p>
            <a:pPr>
              <a:spcAft>
                <a:spcPts val="200"/>
              </a:spcAft>
            </a:pPr>
            <a:r>
              <a:rPr sz="930" dirty="0">
                <a:solidFill>
                  <a:srgbClr val="2A343D"/>
                </a:solidFill>
                <a:latin typeface="Aptos"/>
              </a:rPr>
              <a:t>voice: </a:t>
            </a:r>
            <a:r>
              <a:rPr sz="930" dirty="0" err="1">
                <a:solidFill>
                  <a:srgbClr val="2A343D"/>
                </a:solidFill>
                <a:latin typeface="Aptos"/>
              </a:rPr>
              <a:t>hr</a:t>
            </a:r>
            <a:endParaRPr sz="930" dirty="0">
              <a:solidFill>
                <a:srgbClr val="2A343D"/>
              </a:solidFill>
              <a:latin typeface="Aptos"/>
            </a:endParaRPr>
          </a:p>
          <a:p>
            <a:pPr>
              <a:spcAft>
                <a:spcPts val="200"/>
              </a:spcAft>
            </a:pPr>
            <a:r>
              <a:rPr sz="930" dirty="0" err="1">
                <a:solidFill>
                  <a:srgbClr val="2A343D"/>
                </a:solidFill>
                <a:latin typeface="Aptos"/>
              </a:rPr>
              <a:t>normalizacija</a:t>
            </a:r>
            <a:r>
              <a:rPr sz="930" dirty="0">
                <a:solidFill>
                  <a:srgbClr val="2A343D"/>
                </a:solidFill>
                <a:latin typeface="Aptos"/>
              </a:rPr>
              <a:t>: WAV mono, 16 kHz, 16-bit PCM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1999" y="1098000"/>
            <a:ext cx="2826000" cy="25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91999" y="1098000"/>
            <a:ext cx="64800" cy="2574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28799" y="1188000"/>
            <a:ext cx="25524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/>
            <a:r>
              <a:rPr sz="1450" b="1">
                <a:solidFill>
                  <a:srgbClr val="1F5D7A"/>
                </a:solidFill>
                <a:latin typeface="Aptos"/>
              </a:rPr>
              <a:t>Coqui VITS HR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28799" y="1429200"/>
            <a:ext cx="1170000" cy="18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64799" y="1458000"/>
            <a:ext cx="1328104" cy="162412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819" b="1" dirty="0">
                <a:solidFill>
                  <a:srgbClr val="D88D3D"/>
                </a:solidFill>
                <a:latin typeface="Aptos"/>
              </a:rPr>
              <a:t>neural end-to-end VITS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8799" y="1717200"/>
            <a:ext cx="2552400" cy="1224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/>
            <a:r>
              <a:rPr sz="880" b="1">
                <a:solidFill>
                  <a:srgbClr val="D88D3D"/>
                </a:solidFill>
                <a:latin typeface="Aptos"/>
              </a:rPr>
              <a:t>Tip modela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8799" y="1854000"/>
            <a:ext cx="2552400" cy="43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spcAft>
                <a:spcPts val="200"/>
              </a:spcAft>
            </a:pPr>
            <a:r>
              <a:rPr sz="930" dirty="0" err="1">
                <a:solidFill>
                  <a:srgbClr val="2A343D"/>
                </a:solidFill>
                <a:latin typeface="Aptos"/>
              </a:rPr>
              <a:t>neuronski</a:t>
            </a:r>
            <a:r>
              <a:rPr sz="930" dirty="0">
                <a:solidFill>
                  <a:srgbClr val="2A343D"/>
                </a:solidFill>
                <a:latin typeface="Aptos"/>
              </a:rPr>
              <a:t> TTS za </a:t>
            </a:r>
            <a:r>
              <a:rPr sz="930" dirty="0" err="1">
                <a:solidFill>
                  <a:srgbClr val="2A343D"/>
                </a:solidFill>
                <a:latin typeface="Aptos"/>
              </a:rPr>
              <a:t>hrvatski</a:t>
            </a:r>
            <a:endParaRPr sz="930" dirty="0">
              <a:solidFill>
                <a:srgbClr val="2A343D"/>
              </a:solidFill>
              <a:latin typeface="Aptos"/>
            </a:endParaRPr>
          </a:p>
          <a:p>
            <a:pPr>
              <a:spcAft>
                <a:spcPts val="200"/>
              </a:spcAft>
            </a:pPr>
            <a:r>
              <a:rPr sz="930" dirty="0">
                <a:solidFill>
                  <a:srgbClr val="2A343D"/>
                </a:solidFill>
                <a:latin typeface="Aptos"/>
              </a:rPr>
              <a:t>VITS: </a:t>
            </a:r>
            <a:r>
              <a:rPr sz="930" dirty="0" err="1">
                <a:solidFill>
                  <a:srgbClr val="2A343D"/>
                </a:solidFill>
                <a:latin typeface="Aptos"/>
              </a:rPr>
              <a:t>akustički</a:t>
            </a:r>
            <a:r>
              <a:rPr sz="930" dirty="0">
                <a:solidFill>
                  <a:srgbClr val="2A343D"/>
                </a:solidFill>
                <a:latin typeface="Aptos"/>
              </a:rPr>
              <a:t> model + </a:t>
            </a:r>
            <a:r>
              <a:rPr sz="930" dirty="0" err="1">
                <a:solidFill>
                  <a:srgbClr val="2A343D"/>
                </a:solidFill>
                <a:latin typeface="Aptos"/>
              </a:rPr>
              <a:t>neuralna</a:t>
            </a:r>
            <a:r>
              <a:rPr sz="930" dirty="0">
                <a:solidFill>
                  <a:srgbClr val="2A343D"/>
                </a:solidFill>
                <a:latin typeface="Aptos"/>
              </a:rPr>
              <a:t> </a:t>
            </a:r>
            <a:r>
              <a:rPr sz="930" dirty="0" err="1">
                <a:solidFill>
                  <a:srgbClr val="2A343D"/>
                </a:solidFill>
                <a:latin typeface="Aptos"/>
              </a:rPr>
              <a:t>sinteza</a:t>
            </a:r>
            <a:r>
              <a:rPr sz="930" dirty="0">
                <a:solidFill>
                  <a:srgbClr val="2A343D"/>
                </a:solidFill>
                <a:latin typeface="Aptos"/>
              </a:rPr>
              <a:t> u </a:t>
            </a:r>
            <a:r>
              <a:rPr sz="930" dirty="0" err="1">
                <a:solidFill>
                  <a:srgbClr val="2A343D"/>
                </a:solidFill>
                <a:latin typeface="Aptos"/>
              </a:rPr>
              <a:t>jednom</a:t>
            </a:r>
            <a:r>
              <a:rPr sz="930" dirty="0">
                <a:solidFill>
                  <a:srgbClr val="2A343D"/>
                </a:solidFill>
                <a:latin typeface="Aptos"/>
              </a:rPr>
              <a:t> </a:t>
            </a:r>
            <a:r>
              <a:rPr sz="930" dirty="0" err="1">
                <a:solidFill>
                  <a:srgbClr val="2A343D"/>
                </a:solidFill>
                <a:latin typeface="Aptos"/>
              </a:rPr>
              <a:t>sustavu</a:t>
            </a:r>
            <a:endParaRPr sz="93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28799" y="2350800"/>
            <a:ext cx="2552400" cy="1224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/>
            <a:r>
              <a:rPr sz="880" b="1">
                <a:solidFill>
                  <a:srgbClr val="D88D3D"/>
                </a:solidFill>
                <a:latin typeface="Aptos"/>
              </a:rPr>
              <a:t>Arhitektura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8799" y="2487600"/>
            <a:ext cx="2552400" cy="43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spcAft>
                <a:spcPts val="200"/>
              </a:spcAft>
            </a:pPr>
            <a:r>
              <a:rPr sz="930">
                <a:solidFill>
                  <a:srgbClr val="2A343D"/>
                </a:solidFill>
                <a:latin typeface="Aptos"/>
              </a:rPr>
              <a:t>tekst/tokeni → latentni akustički prikaz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2A343D"/>
                </a:solidFill>
                <a:latin typeface="Aptos"/>
              </a:rPr>
              <a:t>→ decoder/vocoder → waveform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8799" y="2984400"/>
            <a:ext cx="2552400" cy="1224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/>
            <a:r>
              <a:rPr sz="880" b="1">
                <a:solidFill>
                  <a:srgbClr val="D88D3D"/>
                </a:solidFill>
                <a:latin typeface="Aptos"/>
              </a:rPr>
              <a:t>Postavke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8799" y="3121200"/>
            <a:ext cx="2552400" cy="43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spcAft>
                <a:spcPts val="200"/>
              </a:spcAft>
            </a:pPr>
            <a:r>
              <a:rPr sz="930" dirty="0">
                <a:solidFill>
                  <a:srgbClr val="2A343D"/>
                </a:solidFill>
                <a:latin typeface="Aptos"/>
              </a:rPr>
              <a:t>model: </a:t>
            </a:r>
            <a:r>
              <a:rPr sz="930" dirty="0" err="1">
                <a:solidFill>
                  <a:srgbClr val="2A343D"/>
                </a:solidFill>
                <a:latin typeface="Aptos"/>
              </a:rPr>
              <a:t>tts_models</a:t>
            </a:r>
            <a:r>
              <a:rPr sz="930" dirty="0">
                <a:solidFill>
                  <a:srgbClr val="2A343D"/>
                </a:solidFill>
                <a:latin typeface="Aptos"/>
              </a:rPr>
              <a:t>/</a:t>
            </a:r>
            <a:r>
              <a:rPr sz="930" dirty="0" err="1">
                <a:solidFill>
                  <a:srgbClr val="2A343D"/>
                </a:solidFill>
                <a:latin typeface="Aptos"/>
              </a:rPr>
              <a:t>hr</a:t>
            </a:r>
            <a:r>
              <a:rPr sz="930" dirty="0">
                <a:solidFill>
                  <a:srgbClr val="2A343D"/>
                </a:solidFill>
                <a:latin typeface="Aptos"/>
              </a:rPr>
              <a:t>/cv/vits</a:t>
            </a:r>
          </a:p>
          <a:p>
            <a:pPr>
              <a:spcAft>
                <a:spcPts val="200"/>
              </a:spcAft>
            </a:pPr>
            <a:r>
              <a:rPr sz="930" dirty="0" err="1">
                <a:solidFill>
                  <a:srgbClr val="2A343D"/>
                </a:solidFill>
                <a:latin typeface="Aptos"/>
              </a:rPr>
              <a:t>skripta</a:t>
            </a:r>
            <a:r>
              <a:rPr sz="930" dirty="0">
                <a:solidFill>
                  <a:srgbClr val="2A343D"/>
                </a:solidFill>
                <a:latin typeface="Aptos"/>
              </a:rPr>
              <a:t>: scripts/coqui_tts_no_cache.py</a:t>
            </a:r>
          </a:p>
          <a:p>
            <a:pPr>
              <a:spcAft>
                <a:spcPts val="200"/>
              </a:spcAft>
            </a:pPr>
            <a:r>
              <a:rPr sz="930" dirty="0" err="1">
                <a:solidFill>
                  <a:srgbClr val="2A343D"/>
                </a:solidFill>
                <a:latin typeface="Aptos"/>
              </a:rPr>
              <a:t>ffmpeg</a:t>
            </a:r>
            <a:r>
              <a:rPr sz="930" dirty="0">
                <a:solidFill>
                  <a:srgbClr val="2A343D"/>
                </a:solidFill>
                <a:latin typeface="Aptos"/>
              </a:rPr>
              <a:t>: </a:t>
            </a:r>
            <a:r>
              <a:rPr sz="930" dirty="0" err="1">
                <a:solidFill>
                  <a:srgbClr val="2A343D"/>
                </a:solidFill>
                <a:latin typeface="Aptos"/>
              </a:rPr>
              <a:t>isključen</a:t>
            </a:r>
            <a:r>
              <a:rPr sz="930" dirty="0">
                <a:solidFill>
                  <a:srgbClr val="2A343D"/>
                </a:solidFill>
                <a:latin typeface="Aptos"/>
              </a:rPr>
              <a:t> u </a:t>
            </a:r>
            <a:r>
              <a:rPr sz="930" dirty="0" err="1">
                <a:solidFill>
                  <a:srgbClr val="2A343D"/>
                </a:solidFill>
                <a:latin typeface="Aptos"/>
              </a:rPr>
              <a:t>configu</a:t>
            </a:r>
            <a:endParaRPr sz="93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623999" y="1110600"/>
            <a:ext cx="2826000" cy="25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623999" y="1098000"/>
            <a:ext cx="64800" cy="2574000"/>
          </a:xfrm>
          <a:prstGeom prst="rect">
            <a:avLst/>
          </a:prstGeom>
          <a:solidFill>
            <a:srgbClr val="69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0799" y="1188000"/>
            <a:ext cx="25524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/>
            <a:r>
              <a:rPr sz="1450" b="1">
                <a:solidFill>
                  <a:srgbClr val="1F5D7A"/>
                </a:solidFill>
                <a:latin typeface="Aptos"/>
              </a:rPr>
              <a:t>SpeechT5 HR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0799" y="1429200"/>
            <a:ext cx="1170000" cy="18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96799" y="1458000"/>
            <a:ext cx="1440000" cy="162412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819" b="1">
                <a:solidFill>
                  <a:srgbClr val="695BA6"/>
                </a:solidFill>
                <a:latin typeface="Aptos"/>
              </a:rPr>
              <a:t>Transformer + HiFi-GAN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0799" y="1717200"/>
            <a:ext cx="2552400" cy="1224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/>
            <a:r>
              <a:rPr sz="880" b="1">
                <a:solidFill>
                  <a:srgbClr val="695BA6"/>
                </a:solidFill>
                <a:latin typeface="Aptos"/>
              </a:rPr>
              <a:t>Tip modela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0799" y="1854000"/>
            <a:ext cx="2552400" cy="43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spcAft>
                <a:spcPts val="200"/>
              </a:spcAft>
            </a:pPr>
            <a:r>
              <a:rPr sz="930">
                <a:solidFill>
                  <a:srgbClr val="2A343D"/>
                </a:solidFill>
                <a:latin typeface="Aptos"/>
              </a:rPr>
              <a:t>neuronski encoder-decoder TTS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2A343D"/>
                </a:solidFill>
                <a:latin typeface="Aptos"/>
              </a:rPr>
              <a:t>uvjetovan speaker embeddingom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0799" y="2350800"/>
            <a:ext cx="2552400" cy="1224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/>
            <a:r>
              <a:rPr sz="880" b="1">
                <a:solidFill>
                  <a:srgbClr val="695BA6"/>
                </a:solidFill>
                <a:latin typeface="Aptos"/>
              </a:rPr>
              <a:t>Arhitektura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0799" y="2487600"/>
            <a:ext cx="2552400" cy="43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spcAft>
                <a:spcPts val="200"/>
              </a:spcAft>
            </a:pPr>
            <a:r>
              <a:rPr sz="930">
                <a:solidFill>
                  <a:srgbClr val="2A343D"/>
                </a:solidFill>
                <a:latin typeface="Aptos"/>
              </a:rPr>
              <a:t>processor/tokenizer → SpeechT5 akustički izlaz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2A343D"/>
                </a:solidFill>
                <a:latin typeface="Aptos"/>
              </a:rPr>
              <a:t>+ x-vector govornika → HiFi-GAN vocoder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0799" y="2909358"/>
            <a:ext cx="2552400" cy="1224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/>
            <a:r>
              <a:rPr sz="880" b="1" dirty="0" err="1">
                <a:solidFill>
                  <a:srgbClr val="695BA6"/>
                </a:solidFill>
                <a:latin typeface="Aptos"/>
              </a:rPr>
              <a:t>Postavke</a:t>
            </a:r>
            <a:endParaRPr sz="880" b="1" dirty="0">
              <a:solidFill>
                <a:srgbClr val="695BA6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60799" y="3070737"/>
            <a:ext cx="2469301" cy="652842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spcAft>
                <a:spcPts val="200"/>
              </a:spcAft>
            </a:pPr>
            <a:r>
              <a:rPr sz="930" dirty="0" err="1">
                <a:solidFill>
                  <a:srgbClr val="2A343D"/>
                </a:solidFill>
                <a:latin typeface="Aptos"/>
              </a:rPr>
              <a:t>local_files_only</a:t>
            </a:r>
            <a:r>
              <a:rPr sz="930" dirty="0">
                <a:solidFill>
                  <a:srgbClr val="2A343D"/>
                </a:solidFill>
                <a:latin typeface="Aptos"/>
              </a:rPr>
              <a:t>: true, device: CPU</a:t>
            </a:r>
          </a:p>
          <a:p>
            <a:pPr>
              <a:spcAft>
                <a:spcPts val="200"/>
              </a:spcAft>
            </a:pPr>
            <a:r>
              <a:rPr sz="930" dirty="0">
                <a:solidFill>
                  <a:srgbClr val="2A343D"/>
                </a:solidFill>
                <a:latin typeface="Aptos"/>
              </a:rPr>
              <a:t>model + processor + vocoder </a:t>
            </a:r>
            <a:r>
              <a:rPr sz="930" dirty="0" err="1">
                <a:solidFill>
                  <a:srgbClr val="2A343D"/>
                </a:solidFill>
                <a:latin typeface="Aptos"/>
              </a:rPr>
              <a:t>iz</a:t>
            </a:r>
            <a:r>
              <a:rPr sz="930" dirty="0">
                <a:solidFill>
                  <a:srgbClr val="2A343D"/>
                </a:solidFill>
                <a:latin typeface="Aptos"/>
              </a:rPr>
              <a:t> models/</a:t>
            </a:r>
          </a:p>
          <a:p>
            <a:pPr>
              <a:spcAft>
                <a:spcPts val="200"/>
              </a:spcAft>
            </a:pPr>
            <a:r>
              <a:rPr sz="930" dirty="0">
                <a:solidFill>
                  <a:srgbClr val="2A343D"/>
                </a:solidFill>
                <a:latin typeface="Aptos"/>
              </a:rPr>
              <a:t>speaker embedding: cmu_arctic_slt_speecht5_xvector.npy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0000" y="4050000"/>
            <a:ext cx="1584000" cy="32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4000" y="4132800"/>
            <a:ext cx="1475999" cy="12599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1019" b="1">
                <a:solidFill>
                  <a:srgbClr val="1F5D7A"/>
                </a:solidFill>
                <a:latin typeface="Aptos"/>
              </a:rPr>
              <a:t>validirani tekst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4000" y="4096800"/>
            <a:ext cx="251999" cy="16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1700" b="1">
                <a:solidFill>
                  <a:srgbClr val="606C75"/>
                </a:solidFill>
                <a:latin typeface="Aptos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44000" y="4050000"/>
            <a:ext cx="1584000" cy="324000"/>
          </a:xfrm>
          <a:prstGeom prst="roundRect">
            <a:avLst/>
          </a:prstGeom>
          <a:solidFill>
            <a:srgbClr val="E0EFF4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898000" y="4132800"/>
            <a:ext cx="1475999" cy="12599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1019" b="1">
                <a:solidFill>
                  <a:srgbClr val="22A1B2"/>
                </a:solidFill>
                <a:latin typeface="Aptos"/>
              </a:rPr>
              <a:t>TTS adapter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18000" y="4096800"/>
            <a:ext cx="251999" cy="16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1700" b="1">
                <a:solidFill>
                  <a:srgbClr val="606C75"/>
                </a:solidFill>
                <a:latin typeface="Aptos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68000" y="4050000"/>
            <a:ext cx="1584000" cy="32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2000" y="4132800"/>
            <a:ext cx="1475999" cy="12599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1019" b="1">
                <a:solidFill>
                  <a:srgbClr val="D88D3D"/>
                </a:solidFill>
                <a:latin typeface="Aptos"/>
              </a:rPr>
              <a:t>model / sintetizator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42000" y="4096800"/>
            <a:ext cx="251999" cy="16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1700" b="1">
                <a:solidFill>
                  <a:srgbClr val="606C75"/>
                </a:solidFill>
                <a:latin typeface="Aptos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92000" y="4050000"/>
            <a:ext cx="1584000" cy="324000"/>
          </a:xfrm>
          <a:prstGeom prst="roundRect">
            <a:avLst/>
          </a:prstGeom>
          <a:solidFill>
            <a:srgbClr val="E0EFF4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46000" y="4132800"/>
            <a:ext cx="1475999" cy="12599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1019" b="1">
                <a:solidFill>
                  <a:srgbClr val="4F945D"/>
                </a:solidFill>
                <a:latin typeface="Aptos"/>
              </a:rPr>
              <a:t>WAV mono 16 kHz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3: tehnička TTS provjera i ASR WER/CER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82056" y="165600"/>
            <a:ext cx="215888" cy="236406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 dirty="0">
                <a:solidFill>
                  <a:srgbClr val="1F5D7A"/>
                </a:solidFill>
                <a:latin typeface="Aptos"/>
              </a:rPr>
              <a:t>1</a:t>
            </a:r>
            <a:r>
              <a:rPr lang="hr-HR" sz="1300" b="1" dirty="0">
                <a:solidFill>
                  <a:srgbClr val="1F5D7A"/>
                </a:solidFill>
                <a:latin typeface="Aptos"/>
              </a:rPr>
              <a:t>7</a:t>
            </a:r>
            <a:endParaRPr sz="13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080000"/>
          <a:ext cx="8928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sintetizirano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format OK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WER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CER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Coqui VITS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1,187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0,693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eSpeak 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1,076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0,443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SpeechT5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0,967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A343D"/>
                          </a:solidFill>
                          <a:latin typeface="Aptos"/>
                        </a:rPr>
                        <a:t>CER 0,438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773650"/>
              </p:ext>
            </p:extLst>
          </p:nvPr>
        </p:nvGraphicFramePr>
        <p:xfrm>
          <a:off x="233265" y="2628000"/>
          <a:ext cx="4597785" cy="2494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40000" y="2664000"/>
            <a:ext cx="4031999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40000" y="2664000"/>
            <a:ext cx="64800" cy="13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5999" y="3006000"/>
            <a:ext cx="3797999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ASR WER/CER je relativni proxy za razumljivost, nije klinički dokaz izgovora. Visok WER može doći od TTS-a, ASR-a ili neobičnog fonemskog sastava materijala.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Audio demo: ista rečenica kroz tri TTS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82056" y="165600"/>
            <a:ext cx="215888" cy="236406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lang="hr-HR" sz="1300" b="1" dirty="0">
                <a:solidFill>
                  <a:srgbClr val="1F5D7A"/>
                </a:solidFill>
                <a:latin typeface="Aptos"/>
              </a:rPr>
              <a:t>18</a:t>
            </a:r>
            <a:endParaRPr sz="13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3999" y="1007999"/>
            <a:ext cx="8856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3999" y="1007999"/>
            <a:ext cx="64800" cy="72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0999" y="1022280"/>
            <a:ext cx="86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 dirty="0" err="1">
                <a:solidFill>
                  <a:srgbClr val="1F5D7A"/>
                </a:solidFill>
                <a:latin typeface="Aptos"/>
              </a:rPr>
              <a:t>Tekst</a:t>
            </a:r>
            <a:r>
              <a:rPr sz="1500" b="1" dirty="0">
                <a:solidFill>
                  <a:srgbClr val="1F5D7A"/>
                </a:solidFill>
                <a:latin typeface="Aptos"/>
              </a:rPr>
              <a:t> za </a:t>
            </a:r>
            <a:r>
              <a:rPr sz="1500" b="1" dirty="0" err="1">
                <a:solidFill>
                  <a:srgbClr val="1F5D7A"/>
                </a:solidFill>
                <a:latin typeface="Aptos"/>
              </a:rPr>
              <a:t>usporedbu</a:t>
            </a:r>
            <a:endParaRPr sz="15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9998" y="1253820"/>
            <a:ext cx="8622000" cy="3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 err="1">
                <a:solidFill>
                  <a:srgbClr val="2A343D"/>
                </a:solidFill>
                <a:latin typeface="Aptos"/>
              </a:rPr>
              <a:t>Sva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tri audio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primjera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koriste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isti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kandidat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: „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Draga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rada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radi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.”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 err="1">
                <a:solidFill>
                  <a:srgbClr val="2A343D"/>
                </a:solidFill>
                <a:latin typeface="Aptos"/>
              </a:rPr>
              <a:t>Kopije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su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pojačane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samo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za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prezentaciju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posebno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zbog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tišeg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SpeechT5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izlaza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000" y="2232000"/>
            <a:ext cx="2340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502000"/>
            <a:ext cx="2268000" cy="45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 dirty="0" err="1">
                <a:solidFill>
                  <a:srgbClr val="2A343D"/>
                </a:solidFill>
                <a:latin typeface="Aptos"/>
              </a:rPr>
              <a:t>eSpeak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NG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648000" y="3114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19" b="0" dirty="0">
                <a:solidFill>
                  <a:srgbClr val="1F5D7A"/>
                </a:solidFill>
                <a:latin typeface="Aptos"/>
              </a:rPr>
              <a:t>demo_draga_rada_radi_espeak_ng.wav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00000" y="2232000"/>
            <a:ext cx="2340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6000" y="2502000"/>
            <a:ext cx="2268000" cy="45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Coqui VITS HR</a:t>
            </a:r>
          </a:p>
        </p:txBody>
      </p:sp>
      <p:sp>
        <p:nvSpPr>
          <p:cNvPr id="18" name="TextBox 17">
            <a:hlinkClick r:id="rId3"/>
          </p:cNvPr>
          <p:cNvSpPr txBox="1"/>
          <p:nvPr/>
        </p:nvSpPr>
        <p:spPr>
          <a:xfrm>
            <a:off x="3600000" y="3114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19" b="0" dirty="0">
                <a:solidFill>
                  <a:srgbClr val="1F5D7A"/>
                </a:solidFill>
                <a:latin typeface="Aptos"/>
              </a:rPr>
              <a:t>demo_draga_rada_radi_coqui_vits_hr.wav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2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2000" y="2232000"/>
            <a:ext cx="2340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8000" y="2502000"/>
            <a:ext cx="2268000" cy="45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SpeechT5 HR</a:t>
            </a:r>
          </a:p>
        </p:txBody>
      </p:sp>
      <p:sp>
        <p:nvSpPr>
          <p:cNvPr id="23" name="TextBox 22">
            <a:hlinkClick r:id="rId4"/>
          </p:cNvPr>
          <p:cNvSpPr txBox="1"/>
          <p:nvPr/>
        </p:nvSpPr>
        <p:spPr>
          <a:xfrm>
            <a:off x="6552000" y="3114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demo_draga_rada_radi_speecht5_hr.wav</a:t>
            </a:r>
          </a:p>
        </p:txBody>
      </p:sp>
      <p:sp>
        <p:nvSpPr>
          <p:cNvPr id="24" name="TextBox 23">
            <a:hlinkClick r:id="rId5" action="ppaction://hlinkfile"/>
            <a:extLst>
              <a:ext uri="{FF2B5EF4-FFF2-40B4-BE49-F238E27FC236}">
                <a16:creationId xmlns:a16="http://schemas.microsoft.com/office/drawing/2014/main" id="{03359198-50F3-45E2-8E78-4F844FFADE22}"/>
              </a:ext>
            </a:extLst>
          </p:cNvPr>
          <p:cNvSpPr txBox="1"/>
          <p:nvPr/>
        </p:nvSpPr>
        <p:spPr>
          <a:xfrm>
            <a:off x="609225" y="3700800"/>
            <a:ext cx="2381545" cy="177801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lang="hr-HR" sz="919" b="0" dirty="0">
                <a:solidFill>
                  <a:srgbClr val="1F5D7A"/>
                </a:solidFill>
                <a:latin typeface="Aptos"/>
              </a:rPr>
              <a:t>demo_mama_pumpa_pumpu_espeak_ng.wav</a:t>
            </a:r>
            <a:endParaRPr sz="919" b="0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25" name="TextBox 24">
            <a:hlinkClick r:id="rId6" action="ppaction://hlinkfile"/>
            <a:extLst>
              <a:ext uri="{FF2B5EF4-FFF2-40B4-BE49-F238E27FC236}">
                <a16:creationId xmlns:a16="http://schemas.microsoft.com/office/drawing/2014/main" id="{525296D8-E2B4-45A1-829C-54F7CA0D7277}"/>
              </a:ext>
            </a:extLst>
          </p:cNvPr>
          <p:cNvSpPr txBox="1"/>
          <p:nvPr/>
        </p:nvSpPr>
        <p:spPr>
          <a:xfrm>
            <a:off x="878531" y="4316228"/>
            <a:ext cx="1842936" cy="177801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lang="it-IT" sz="919" dirty="0">
                <a:solidFill>
                  <a:srgbClr val="1F5D7A"/>
                </a:solidFill>
                <a:latin typeface="Aptos"/>
              </a:rPr>
              <a:t>demo_sivi_zec_visi_</a:t>
            </a:r>
            <a:r>
              <a:rPr lang="hr-HR" sz="919" dirty="0">
                <a:solidFill>
                  <a:srgbClr val="1F5D7A"/>
                </a:solidFill>
                <a:latin typeface="Aptos"/>
              </a:rPr>
              <a:t>espeak</a:t>
            </a:r>
            <a:r>
              <a:rPr lang="it-IT" sz="919" dirty="0">
                <a:solidFill>
                  <a:srgbClr val="1F5D7A"/>
                </a:solidFill>
                <a:latin typeface="Aptos"/>
              </a:rPr>
              <a:t>_ng</a:t>
            </a:r>
            <a:r>
              <a:rPr lang="hr-HR" sz="919" dirty="0">
                <a:solidFill>
                  <a:srgbClr val="1F5D7A"/>
                </a:solidFill>
                <a:latin typeface="Aptos"/>
              </a:rPr>
              <a:t>.wav</a:t>
            </a:r>
            <a:endParaRPr sz="919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26" name="TextBox 25">
            <a:hlinkClick r:id="rId7" action="ppaction://hlinkfile"/>
            <a:extLst>
              <a:ext uri="{FF2B5EF4-FFF2-40B4-BE49-F238E27FC236}">
                <a16:creationId xmlns:a16="http://schemas.microsoft.com/office/drawing/2014/main" id="{BBC95FD9-34E2-4C42-8085-7E75A67784D5}"/>
              </a:ext>
            </a:extLst>
          </p:cNvPr>
          <p:cNvSpPr txBox="1"/>
          <p:nvPr/>
        </p:nvSpPr>
        <p:spPr>
          <a:xfrm>
            <a:off x="3511902" y="3700800"/>
            <a:ext cx="2516198" cy="177801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lang="hr-HR" sz="919" b="0" dirty="0">
                <a:solidFill>
                  <a:srgbClr val="1F5D7A"/>
                </a:solidFill>
                <a:latin typeface="Aptos"/>
              </a:rPr>
              <a:t>demo_mama_pumpa_pumpu_coqui_vits_hr.wav</a:t>
            </a:r>
            <a:endParaRPr sz="919" b="0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27" name="TextBox 26">
            <a:hlinkClick r:id="rId8" action="ppaction://hlinkfile"/>
            <a:extLst>
              <a:ext uri="{FF2B5EF4-FFF2-40B4-BE49-F238E27FC236}">
                <a16:creationId xmlns:a16="http://schemas.microsoft.com/office/drawing/2014/main" id="{6A809CE1-0562-4F39-BCC2-488D41F6EAF1}"/>
              </a:ext>
            </a:extLst>
          </p:cNvPr>
          <p:cNvSpPr txBox="1"/>
          <p:nvPr/>
        </p:nvSpPr>
        <p:spPr>
          <a:xfrm>
            <a:off x="3781206" y="4316228"/>
            <a:ext cx="1977589" cy="177801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lang="it-IT" sz="919" b="0" dirty="0">
                <a:solidFill>
                  <a:srgbClr val="1F5D7A"/>
                </a:solidFill>
                <a:latin typeface="Aptos"/>
              </a:rPr>
              <a:t>demo_sivi_zec_visi_coqui_vits_hr</a:t>
            </a:r>
            <a:r>
              <a:rPr lang="hr-HR" sz="919" b="0" dirty="0">
                <a:solidFill>
                  <a:srgbClr val="1F5D7A"/>
                </a:solidFill>
                <a:latin typeface="Aptos"/>
              </a:rPr>
              <a:t>.wav</a:t>
            </a:r>
            <a:endParaRPr sz="919" b="0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28" name="TextBox 27">
            <a:hlinkClick r:id="rId9" action="ppaction://hlinkfile"/>
            <a:extLst>
              <a:ext uri="{FF2B5EF4-FFF2-40B4-BE49-F238E27FC236}">
                <a16:creationId xmlns:a16="http://schemas.microsoft.com/office/drawing/2014/main" id="{F7D2F5B9-8BCF-4EDE-AC98-0B8F83341819}"/>
              </a:ext>
            </a:extLst>
          </p:cNvPr>
          <p:cNvSpPr txBox="1"/>
          <p:nvPr/>
        </p:nvSpPr>
        <p:spPr>
          <a:xfrm>
            <a:off x="6482775" y="3700800"/>
            <a:ext cx="2472917" cy="177801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lang="hr-HR" sz="919" b="0" dirty="0">
                <a:solidFill>
                  <a:srgbClr val="1F5D7A"/>
                </a:solidFill>
                <a:latin typeface="Aptos"/>
              </a:rPr>
              <a:t>demo_mama_pumpa_pumpu_speecht5_hr.wav</a:t>
            </a:r>
            <a:endParaRPr sz="919" b="0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29" name="TextBox 28">
            <a:hlinkClick r:id="rId10" action="ppaction://hlinkfile"/>
            <a:extLst>
              <a:ext uri="{FF2B5EF4-FFF2-40B4-BE49-F238E27FC236}">
                <a16:creationId xmlns:a16="http://schemas.microsoft.com/office/drawing/2014/main" id="{BC88F6BB-CC2A-48B6-B607-A36CD7C0B537}"/>
              </a:ext>
            </a:extLst>
          </p:cNvPr>
          <p:cNvSpPr txBox="1"/>
          <p:nvPr/>
        </p:nvSpPr>
        <p:spPr>
          <a:xfrm>
            <a:off x="6752079" y="4322825"/>
            <a:ext cx="1934308" cy="177801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lang="it-IT" sz="919" b="0" dirty="0">
                <a:solidFill>
                  <a:srgbClr val="1F5D7A"/>
                </a:solidFill>
                <a:latin typeface="Aptos"/>
              </a:rPr>
              <a:t>demo_sivi_zec_visi_speecht5_hr</a:t>
            </a:r>
            <a:r>
              <a:rPr lang="hr-HR" sz="919" b="0" dirty="0">
                <a:solidFill>
                  <a:srgbClr val="1F5D7A"/>
                </a:solidFill>
                <a:latin typeface="Aptos"/>
              </a:rPr>
              <a:t>.wav</a:t>
            </a:r>
            <a:endParaRPr sz="919" b="0" dirty="0">
              <a:solidFill>
                <a:srgbClr val="1F5D7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4: slušna provjera na uravnoteženom uzorku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82056" y="165600"/>
            <a:ext cx="215888" cy="236406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lang="hr-HR" sz="1300" b="1" dirty="0">
                <a:solidFill>
                  <a:srgbClr val="1F5D7A"/>
                </a:solidFill>
                <a:latin typeface="Aptos"/>
              </a:rPr>
              <a:t>19</a:t>
            </a:r>
            <a:endParaRPr sz="13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080000"/>
          <a:ext cx="8928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razumljivost /5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prirodnost /5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WER uzorka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Coqui VITS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2,15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2,10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eSpeak 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4,65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3,30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0,967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SpeechT5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A343D"/>
                          </a:solidFill>
                          <a:latin typeface="Aptos"/>
                        </a:rPr>
                        <a:t>0,958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0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0000" y="2700000"/>
            <a:ext cx="64800" cy="1368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5999" y="279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Najrazumljiviji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99" y="3042000"/>
            <a:ext cx="2466000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eSpeak 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prosjek 4,65/5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medijan 5/5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4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4000" y="2700000"/>
            <a:ext cx="64800" cy="1368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9999" y="279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Najprirodniji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9999" y="3042000"/>
            <a:ext cx="2466000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SpeechT5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prosjek 3,60/5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medijan 4/5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8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8000" y="2700000"/>
            <a:ext cx="64800" cy="13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13999" y="279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Najslabiji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3999" y="3042000"/>
            <a:ext cx="2466000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Coqui VITS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niža razumljivost i prirodnost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u ovom materijalu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je ostvareno, što nije i sljedeći koraci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82056" y="165600"/>
            <a:ext cx="215888" cy="236406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 dirty="0">
                <a:solidFill>
                  <a:srgbClr val="1F5D7A"/>
                </a:solidFill>
                <a:latin typeface="Aptos"/>
              </a:rPr>
              <a:t>2</a:t>
            </a:r>
            <a:r>
              <a:rPr lang="hr-HR" sz="1300" b="1" dirty="0">
                <a:solidFill>
                  <a:srgbClr val="1F5D7A"/>
                </a:solidFill>
                <a:latin typeface="Aptos"/>
              </a:rPr>
              <a:t>0</a:t>
            </a:r>
            <a:endParaRPr sz="13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0000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972000"/>
            <a:ext cx="64800" cy="2232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5999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Ostvareno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314000"/>
            <a:ext cx="2538000" cy="185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reprodukcija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ideje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iz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literature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deterministički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hrvatski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fonemizator</a:t>
            </a:r>
            <a:endParaRPr sz="11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CSV/Markdown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izvještaji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PCD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ChatGPT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vs.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Ollama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usporedba</a:t>
            </a:r>
            <a:endParaRPr sz="11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HJP word-review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3 TTS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sustava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+ ASR +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slušna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provjera</a:t>
            </a:r>
            <a:endParaRPr sz="115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491999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1999" y="972000"/>
            <a:ext cx="64800" cy="223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7998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Nije ostvareno / ograničenja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314000"/>
            <a:ext cx="2538000" cy="12447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nije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klinički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odobren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materijal</a:t>
            </a:r>
            <a:endParaRPr sz="11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ChatGPT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Plus je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ručni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, ne API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HJP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nije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automat</a:t>
            </a:r>
            <a:r>
              <a:rPr lang="hr-HR" sz="1150" b="0" dirty="0">
                <a:solidFill>
                  <a:srgbClr val="2A343D"/>
                </a:solidFill>
                <a:latin typeface="Aptos"/>
              </a:rPr>
              <a:t>iziran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slušna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provjera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ima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jednog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recenzenta</a:t>
            </a:r>
            <a:endParaRPr sz="11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ASR je proxy, ne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dokaz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izgovora</a:t>
            </a:r>
            <a:endParaRPr sz="115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623999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972000"/>
            <a:ext cx="64800" cy="2232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Problemi i rješenja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314000"/>
            <a:ext cx="2538000" cy="185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LLM ne zna pouzdano brojati foneme → Python validacija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duplikati → detekcija i izvještaj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lokalni modeli slabi → odvojena usporedba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TTS formati različiti → normalizacija WAV-a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671998"/>
            <a:ext cx="8431200" cy="4672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1400" b="1" dirty="0" err="1">
                <a:solidFill>
                  <a:srgbClr val="1F5D7A"/>
                </a:solidFill>
                <a:latin typeface="Aptos"/>
              </a:rPr>
              <a:t>Zaključak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: pipeline je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reproducibilan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i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pokazuje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da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generiranje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materijala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može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pomoći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,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ali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konačna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lingvistička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i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klinička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odluka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ostaje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na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čovjeku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C117C2-896F-4C22-9548-7B383259A829}"/>
              </a:ext>
            </a:extLst>
          </p:cNvPr>
          <p:cNvSpPr txBox="1"/>
          <p:nvPr/>
        </p:nvSpPr>
        <p:spPr>
          <a:xfrm>
            <a:off x="0" y="1830982"/>
            <a:ext cx="9791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5400" dirty="0"/>
              <a:t>HVALA NA PAŽNJI</a:t>
            </a:r>
          </a:p>
        </p:txBody>
      </p:sp>
    </p:spTree>
    <p:extLst>
      <p:ext uri="{BB962C8B-B14F-4D97-AF65-F5344CB8AC3E}">
        <p14:creationId xmlns:p14="http://schemas.microsoft.com/office/powerpoint/2010/main" val="3258672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2113</TotalTime>
  <Words>2139</Words>
  <Application>Microsoft Office PowerPoint</Application>
  <PresentationFormat>Custom</PresentationFormat>
  <Paragraphs>518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Računalna obrada govora i jezika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ROGJ tema 16</dc:title>
  <dc:subject>Evaluacija jezičnih generativnih modela za potrebe audiorehabilitacije</dc:subject>
  <dc:creator>OpenAI</dc:creator>
  <cp:lastModifiedBy>Gaming 3</cp:lastModifiedBy>
  <cp:revision>84</cp:revision>
  <dcterms:created xsi:type="dcterms:W3CDTF">2026-04-24T12:28:30Z</dcterms:created>
  <dcterms:modified xsi:type="dcterms:W3CDTF">2026-06-14T16:00:43Z</dcterms:modified>
</cp:coreProperties>
</file>