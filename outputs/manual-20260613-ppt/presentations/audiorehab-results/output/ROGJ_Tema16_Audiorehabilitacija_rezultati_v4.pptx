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  <p:sldId id="261" r:id="rId6"/>
    <p:sldId id="262" r:id="rId5"/>
    <p:sldId id="263" r:id="rId4"/>
    <p:sldId id="264" r:id="rId3"/>
    <p:sldId id="265" r:id="rId2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792000" cy="550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8731" autoAdjust="0"/>
  </p:normalViewPr>
  <p:slideViewPr>
    <p:cSldViewPr snapToGrid="0" snapToObjects="1">
      <p:cViewPr varScale="1">
        <p:scale>
          <a:sx n="90" d="100"/>
          <a:sy n="90" d="100"/>
        </p:scale>
        <p:origin x="13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Ukupna usporedba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tehnički valjano</c:v>
                </c:pt>
              </c:strCache>
            </c:strRef>
          </c:tx>
          <c:spPr>
            <a:solidFill>
              <a:srgbClr val="22A1B2"/>
            </a:solidFill>
          </c:spPr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48.6</c:v>
                </c:pt>
                <c:pt idx="1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 prolaz</c:v>
                </c:pt>
              </c:strCache>
            </c:strRef>
          </c:tx>
          <c:spPr>
            <a:solidFill>
              <a:srgbClr val="D88D3D"/>
            </a:solidFill>
          </c:spPr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85.9</c:v>
                </c:pt>
                <c:pt idx="1">
                  <c:v>4.6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Hunspell</c:v>
                </c:pt>
              </c:strCache>
            </c:strRef>
          </c:tx>
          <c:spPr>
            <a:solidFill>
              <a:srgbClr val="1F5D7A"/>
            </a:solidFill>
          </c:spPr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95.4</c:v>
                </c:pt>
                <c:pt idx="1">
                  <c:v>76.8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Niže je bolje; skala radi prikaza ×100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WER ×100</c:v>
                </c:pt>
              </c:strCache>
            </c:strRef>
          </c:tx>
          <c:spPr>
            <a:solidFill>
              <a:srgbClr val="22A1B2"/>
            </a:solidFill>
          </c:spPr>
          <c:cat>
            <c:strRef>
              <c:f>Sheet1!$A$2:$A$4</c:f>
              <c:strCache>
                <c:ptCount val="3"/>
                <c:pt idx="0">
                  <c:v>Coqui</c:v>
                </c:pt>
                <c:pt idx="1">
                  <c:v>eSpeak</c:v>
                </c:pt>
                <c:pt idx="2">
                  <c:v>SpeechT5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118.7</c:v>
                </c:pt>
                <c:pt idx="1">
                  <c:v>107.6</c:v>
                </c:pt>
                <c:pt idx="2">
                  <c:v>96.7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CER ×100</c:v>
                </c:pt>
              </c:strCache>
            </c:strRef>
          </c:tx>
          <c:spPr>
            <a:solidFill>
              <a:srgbClr val="D88D3D"/>
            </a:solidFill>
          </c:spPr>
          <c:cat>
            <c:strRef>
              <c:f>Sheet1!$A$2:$A$4</c:f>
              <c:strCache>
                <c:ptCount val="3"/>
                <c:pt idx="0">
                  <c:v>Coqui</c:v>
                </c:pt>
                <c:pt idx="1">
                  <c:v>eSpeak</c:v>
                </c:pt>
                <c:pt idx="2">
                  <c:v>SpeechT5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69.3</c:v>
                </c:pt>
                <c:pt idx="1">
                  <c:v>44.3</c:v>
                </c:pt>
                <c:pt idx="2">
                  <c:v>43.8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7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audio_demo/demo_draga_rada_radi_espeak_ng.wav" TargetMode="External"/><Relationship Id="rId3" Type="http://schemas.openxmlformats.org/officeDocument/2006/relationships/hyperlink" Target="audio_demo/demo_draga_rada_radi_coqui_vits_hr.wav" TargetMode="External"/><Relationship Id="rId4" Type="http://schemas.openxmlformats.org/officeDocument/2006/relationships/hyperlink" Target="audio_demo/demo_draga_rada_radi_speecht5_hr.wav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72000"/>
            <a:ext cx="9792000" cy="75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800" b="1">
                <a:solidFill>
                  <a:srgbClr val="1F5D7A"/>
                </a:solidFill>
                <a:latin typeface="Aptos"/>
              </a:rPr>
              <a:t>Evaluacija jezičnih generativnih modela</a:t>
            </a:r>
            <a:br/>
            <a:r>
              <a:rPr sz="2800" b="1">
                <a:solidFill>
                  <a:srgbClr val="1F5D7A"/>
                </a:solidFill>
                <a:latin typeface="Aptos"/>
              </a:rPr>
              <a:t>za potrebe audiorehabilitacije</a:t>
            </a:r>
          </a:p>
        </p:txBody>
      </p:sp>
      <p:sp>
        <p:nvSpPr>
          <p:cNvPr id="3" name="Oval 2"/>
          <p:cNvSpPr/>
          <p:nvPr/>
        </p:nvSpPr>
        <p:spPr>
          <a:xfrm>
            <a:off x="720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798000"/>
            <a:ext cx="1007999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LLM</a:t>
            </a:r>
          </a:p>
        </p:txBody>
      </p:sp>
      <p:sp>
        <p:nvSpPr>
          <p:cNvPr id="5" name="Oval 4"/>
          <p:cNvSpPr/>
          <p:nvPr/>
        </p:nvSpPr>
        <p:spPr>
          <a:xfrm>
            <a:off x="2484000" y="3024000"/>
            <a:ext cx="720000" cy="720000"/>
          </a:xfrm>
          <a:prstGeom prst="ellipse">
            <a:avLst/>
          </a:prstGeom>
          <a:solidFill>
            <a:srgbClr val="E0EFF4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40000" y="3798000"/>
            <a:ext cx="1007999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fonemi</a:t>
            </a:r>
          </a:p>
        </p:txBody>
      </p:sp>
      <p:sp>
        <p:nvSpPr>
          <p:cNvPr id="7" name="Oval 6"/>
          <p:cNvSpPr/>
          <p:nvPr/>
        </p:nvSpPr>
        <p:spPr>
          <a:xfrm>
            <a:off x="4248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04000" y="3798000"/>
            <a:ext cx="1007999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validacija</a:t>
            </a:r>
          </a:p>
        </p:txBody>
      </p:sp>
      <p:sp>
        <p:nvSpPr>
          <p:cNvPr id="9" name="Oval 8"/>
          <p:cNvSpPr/>
          <p:nvPr/>
        </p:nvSpPr>
        <p:spPr>
          <a:xfrm>
            <a:off x="6012000" y="3024000"/>
            <a:ext cx="720000" cy="720000"/>
          </a:xfrm>
          <a:prstGeom prst="ellipse">
            <a:avLst/>
          </a:prstGeom>
          <a:solidFill>
            <a:srgbClr val="E0EFF4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68000" y="3798000"/>
            <a:ext cx="1007999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TTS</a:t>
            </a:r>
          </a:p>
        </p:txBody>
      </p:sp>
      <p:sp>
        <p:nvSpPr>
          <p:cNvPr id="11" name="Oval 10"/>
          <p:cNvSpPr/>
          <p:nvPr/>
        </p:nvSpPr>
        <p:spPr>
          <a:xfrm>
            <a:off x="7776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2000" y="3798000"/>
            <a:ext cx="1007999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audio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0" y="6246000"/>
            <a:ext cx="1620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r"/>
            <a:r>
              <a:rPr sz="1200" b="0">
                <a:solidFill>
                  <a:srgbClr val="606C75"/>
                </a:solidFill>
                <a:latin typeface="Aptos"/>
              </a:rPr>
              <a:t>Denis Ibiši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Motivacija: zašto baš fonetski kontroliran materijal?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8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8000" y="1512000"/>
            <a:ext cx="64800" cy="144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3999" y="1602000"/>
            <a:ext cx="232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Slušni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999" y="1854000"/>
            <a:ext cx="2322000" cy="106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U audiorehabilitaciji često se vježbaju kontrasti koje korisnik teško razlikuje.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Primjer: /s/ i /š/, /č/ i /ć/, /nj/ i /lj/.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000" y="1512000"/>
            <a:ext cx="64800" cy="1440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5999" y="1602000"/>
            <a:ext cx="232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Kontrolirani tekst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5999" y="1854000"/>
            <a:ext cx="2322000" cy="106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Treba znati koliko je ciljanih fonema u riječi ili rečenici.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Zato uvodimo klase fonema i postotak zasićenja.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32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32000" y="1512000"/>
            <a:ext cx="64800" cy="1440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7999" y="1602000"/>
            <a:ext cx="232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Audio vježbe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7999" y="1854000"/>
            <a:ext cx="2322000" cy="106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Tekst se smije pretvoriti u zvuk tek nakon validacije.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TTS je zadnji korak, ne dokaz kvalitete.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Istraživačko pitanje i doprinos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1152000"/>
            <a:ext cx="1835999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422000"/>
            <a:ext cx="1763999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Može li LLM generirati hrvatske riječi i rečenice s traženim fonemskim zasićenjem?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4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64000" y="1152000"/>
            <a:ext cx="1835999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0" y="1422000"/>
            <a:ext cx="1763999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Možemo li sve provjeriti deterministički, bez vjerovanja modelu?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6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6000" y="1152000"/>
            <a:ext cx="1835999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2000" y="1422000"/>
            <a:ext cx="1763999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Može li validirani tekst postati tehnički ispravan audio materijal?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0" y="1152000"/>
            <a:ext cx="1835999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695BA6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4000" y="1422000"/>
            <a:ext cx="1763999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Koji je izvor bolji: ChatGPT Plus ili lokalni Ollama?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2520000"/>
            <a:ext cx="8280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0000" y="2520000"/>
            <a:ext cx="64800" cy="144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999" y="2610000"/>
            <a:ext cx="804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5D7A"/>
                </a:solidFill>
                <a:latin typeface="Aptos"/>
              </a:rPr>
              <a:t>Glavna metodološka odluka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999" y="2862000"/>
            <a:ext cx="8046000" cy="106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LLM ne broji foneme i ne odlučuje je li kandidat valjan.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LLM samo predlaže tekst. Python fonemizira, računa zasićenje, pronalazi duplikate, provjerava duljinu i generira CSV/Markdown izvještaje.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Veza s radom Andrijašević i Vukelić (MIPRO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000" y="1080000"/>
            <a:ext cx="64800" cy="162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5999" y="117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preuzimamo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422000"/>
            <a:ext cx="2466000" cy="12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hrvatski materijal za auditivni trening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pet fonemskih klasa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zasićenje ciljnom klasom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riječi i kratke rečenice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1999" y="1080000"/>
            <a:ext cx="64800" cy="1620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7998" y="117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mijenjamo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422000"/>
            <a:ext cx="2466000" cy="12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validacija nije u rukama LLM-a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sve ide kroz Python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spremamo sirove odgovore, CSV i izvještaje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dodajemo PCD, TTS, ASR i slušnu provjeru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3999" y="1080000"/>
            <a:ext cx="64800" cy="1620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9998" y="117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uspoređujemo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422000"/>
            <a:ext cx="2466000" cy="12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reprodukcija paper-style promptova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ChatGPT Plus vs. Ollama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paper_style vs. strict_plain_list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eSpeak, Coqui i SpeechT5 za audio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456000"/>
            <a:ext cx="8280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B74F4F"/>
                </a:solidFill>
                <a:latin typeface="Aptos"/>
              </a:rPr>
              <a:t>Važno: HJP u promptu nije dokaz. HJP valjanost je odvojena ručna / riječ-po-riječ provjera.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Fonemski zahtjevi: pet klasa i formula zasićenja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8000" y="1080000"/>
          <a:ext cx="5256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920"/>
                <a:gridCol w="3574080"/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Fonemi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N / Niski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m, n, nj, b, p,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SN / Srednjeniski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v, g, o, h, l, lj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 / Srednji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a, k, r, d, dž, f, 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SV / Srednjevisoki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č, e, š, t, đ, j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V / Visoki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ć, i, c, z,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120000" y="1080000"/>
            <a:ext cx="3131999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0000" y="1080000"/>
            <a:ext cx="64800" cy="180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5999" y="1170000"/>
            <a:ext cx="2897999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999" y="1422000"/>
            <a:ext cx="2897999" cy="142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50" b="0">
                <a:solidFill>
                  <a:srgbClr val="2A343D"/>
                </a:solidFill>
                <a:latin typeface="Aptos"/>
              </a:rPr>
              <a:t>zasićenje = broj fonema ciljne klase / ukupan broj fonema × 100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50" b="0">
                <a:solidFill>
                  <a:srgbClr val="2A343D"/>
                </a:solidFill>
                <a:latin typeface="Aptos"/>
              </a:rPr>
              <a:t>Parser najprije prepoznaje dž, lj i nj kao jedan fonem.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0000" y="3348000"/>
            <a:ext cx="6983999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40000" y="3348000"/>
            <a:ext cx="64800" cy="72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65999" y="3438000"/>
            <a:ext cx="6749999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Primjer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5999" y="3690000"/>
            <a:ext cx="6749999" cy="3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„puno banana u panju” → p u n o b a n a n a u p a nj 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`nj` se broji kao jedan fonem, razmaci se ne broje.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Implementirani postupak: generiranje + deterministička validacija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klasa, zasićenje, tip teksta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1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1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ChatGPT Plus ili Ollama generira kandidate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fonemizator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normalizacija + dž/lj/nj longest-match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validacija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SL, znakovi, 3–5 riječi, duplikati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leksika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Hunspell + ručni HJP word-review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izvještaj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CSV, Markdown, tablice, greške, PCD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" y="3600000"/>
            <a:ext cx="828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Sva čitanja i pisanja CSV-a rade u UTF-8, tako da se čuvaju č, ć, đ, š, ž i fonemi dž/lj/nj.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Dizajn eksperimenata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872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Reprodukcija 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430000" cy="149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Riječi: 5 klasa × 5 SL × 11 = 275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Rečenice: 5 klasa × 2 SL × 21 = 210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Prompt: paper_style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Izvor: ChatGPT Plus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4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4000" y="1080000"/>
            <a:ext cx="64800" cy="1872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9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Task 16 usporedba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9999" y="1422000"/>
            <a:ext cx="2430000" cy="149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5 klasa × 2 SL × 2 tipa × 2 prompta × 20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ChatGPT Plus: 797 kandidata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Ollama: 757 kandidata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96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96000" y="1080000"/>
            <a:ext cx="64800" cy="1872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21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Audio faza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999" y="1422000"/>
            <a:ext cx="2430000" cy="149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TTS-ready skup: 355 kandidata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Uravnoteženi TTS podskup: 96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Sinteza: eSpeak NG, Coqui VITS HR, SpeechT5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3491999"/>
            <a:ext cx="756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606C75"/>
                </a:solidFill>
                <a:latin typeface="Aptos"/>
              </a:rPr>
              <a:t>SL = saturation level / prag zasićenja ciljnom fonemskom klasom.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Reprodukcija rada: tablica za riječi kao u paperu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080000"/>
          <a:ext cx="43560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320"/>
                <a:gridCol w="679536"/>
                <a:gridCol w="679536"/>
                <a:gridCol w="679536"/>
                <a:gridCol w="679536"/>
                <a:gridCol w="679536"/>
              </a:tblGrid>
              <a:tr h="267428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40 %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60 %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80 %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27,27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54,55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LM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9,09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54,55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MH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45,45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H1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27,27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432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H2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9,09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76000" y="1080000"/>
          <a:ext cx="4356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320"/>
                <a:gridCol w="679536"/>
                <a:gridCol w="679536"/>
                <a:gridCol w="679536"/>
                <a:gridCol w="679536"/>
                <a:gridCol w="679536"/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Naša</a:t>
                      </a:r>
                    </a:p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40 %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60 %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80 %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SN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SV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0000" y="3311999"/>
            <a:ext cx="8712000" cy="9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3311999"/>
            <a:ext cx="64800" cy="972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999" y="3401999"/>
            <a:ext cx="847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Isti indikator za riječi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999" y="3653999"/>
            <a:ext cx="8478000" cy="59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80" b="0">
                <a:solidFill>
                  <a:srgbClr val="2A343D"/>
                </a:solidFill>
                <a:latin typeface="Aptos"/>
              </a:rPr>
              <a:t>Paper Table II prikazuje postotak riječi koje zadovoljavaju oba kriterija: saturation level + HJP/standardni jezik. Naša analogna tablica koristi saturation pass + ručni HJP word-review. Duplikati su dodatno analizirani u našem pipelineu, ali nisu dio ove paper-style ćelije.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Reprodukcija rada: tablica za rečenice kao u paperu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0000" y="1116000"/>
          <a:ext cx="3527998" cy="165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760"/>
                <a:gridCol w="1023119"/>
                <a:gridCol w="1023119"/>
              </a:tblGrid>
              <a:tr h="27599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LM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33,33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MH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600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66,67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44000" y="1116000"/>
          <a:ext cx="3527998" cy="165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760"/>
                <a:gridCol w="1023119"/>
                <a:gridCol w="1023119"/>
              </a:tblGrid>
              <a:tr h="27599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Naša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76,19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SN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90,48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SV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85,71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600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85,71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33,33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76000" y="3168000"/>
            <a:ext cx="8640000" cy="10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00" y="3168000"/>
            <a:ext cx="64800" cy="1044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1999" y="3258000"/>
            <a:ext cx="840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Isti indikator za rečenice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999" y="3510000"/>
            <a:ext cx="8406000" cy="666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Paper Table III prikazuje postotak rečenica koje zadovoljavaju saturation criterion. Naša analogna tablica koristi isti saturation-pass kriterij. Rezultat je vrlo jak na 50 %, a na 70 % jasno pada za klasu V.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2: ChatGPT Plus vs. lokalni Ollama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3999" y="1080000"/>
          <a:ext cx="4500000" cy="223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00000" y="1206000"/>
          <a:ext cx="3888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920"/>
                <a:gridCol w="544320"/>
                <a:gridCol w="660960"/>
                <a:gridCol w="1360800"/>
              </a:tblGrid>
              <a:tr h="3840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Izvor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valid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glavne greške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ChatGPT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48,6 %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duplikati=361; SL=112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Ollama llama3.1:8b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757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4,5 %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SL=722; broj riječi=195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00000" y="2628000"/>
            <a:ext cx="3888000" cy="100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0" y="2628000"/>
            <a:ext cx="64800" cy="1007999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25999" y="2718000"/>
            <a:ext cx="3654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Interpretacija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5999" y="2970000"/>
            <a:ext cx="3654000" cy="629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30" b="0">
                <a:solidFill>
                  <a:srgbClr val="2A343D"/>
                </a:solidFill>
                <a:latin typeface="Aptos"/>
              </a:rPr>
              <a:t>ChatGPT Plus najčešće razumije fonemski zadatak, ali se ponavlja. Ollama uglavnom ne pogađa ciljno zasićenje, pa nije dovoljno pouzdan u ovoj konfiguraciji.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Što je najčešće pošlo krivo?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736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80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50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ChatGPT Plus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502000" cy="142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Najveći problem: duplikati.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strict_plain_list za riječi: 188 duplikata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paper_style za riječi: 71,5 % tehnički valjano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saturacija uglavnom dobra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8000" y="1080000"/>
            <a:ext cx="2736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8000" y="1080000"/>
            <a:ext cx="64800" cy="1800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3999" y="1170000"/>
            <a:ext cx="250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Ollama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3999" y="1422000"/>
            <a:ext cx="2502000" cy="142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Najveći problem: fonetski kriterij.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722 kandidata pala su na zasićenju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195 pogrešan broj riječi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lokalni model ne broji foneme pouzdano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1080000"/>
            <a:ext cx="2736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3999" y="1080000"/>
            <a:ext cx="64800" cy="180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9998" y="1170000"/>
            <a:ext cx="250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Lekcija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422000"/>
            <a:ext cx="2502000" cy="142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Prompt nije validacija.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I kad tekst izgleda hrvatski, može pasti na fonemima, duplikatima, HJP-u ili strukturi rečenice.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600000"/>
            <a:ext cx="8280000" cy="32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1F5D7A"/>
                </a:solidFill>
                <a:latin typeface="Aptos"/>
              </a:rPr>
              <a:t>Rješenje: model generira više kandidata nego što treba, a Python prihvaća samo one koji prođu pravila.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Kako evaluator odlučuje valjanost + PCD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917999"/>
            <a:ext cx="2880000" cy="24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000" y="917999"/>
            <a:ext cx="64800" cy="2448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5999" y="1007999"/>
            <a:ext cx="264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Tehnički pragovi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259999"/>
            <a:ext cx="2646000" cy="207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Kandidat je tehnički valjan ako prođe: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zasićenje ≥ traženi SL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samo hrvatska slova i razmaci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word = točno 1 riječ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sentence = 3–5 riječi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nije duplikat u runu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nema ponovljene riječi u rečenici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000" y="917999"/>
            <a:ext cx="2880000" cy="24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000" y="917999"/>
            <a:ext cx="64800" cy="2448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1999" y="1007999"/>
            <a:ext cx="264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Razina eksperimenta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999" y="1259999"/>
            <a:ext cx="2646000" cy="207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Korišteni pragovi: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paper riječi: SL 40, 50, 60, 70, 80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paper rečenice: SL 50 i 70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Task 16: SL 50 i 70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SL = minimalni % fonema ciljne klase.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2000" y="917999"/>
            <a:ext cx="2880000" cy="24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52000" y="917999"/>
            <a:ext cx="64800" cy="2448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7999" y="1007999"/>
            <a:ext cx="264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PCD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7999" y="1259999"/>
            <a:ext cx="2646000" cy="207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Phonetic Content Dissimilarity mjeri koliko su dva kandidata fonetski različita.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Naš paper-style PCD koristi dulji kandidat kao nazivnik.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Veći PCD = veća raznolikost.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20000" y="3636000"/>
          <a:ext cx="8352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000"/>
                <a:gridCol w="1336320"/>
                <a:gridCol w="1336320"/>
                <a:gridCol w="3591360"/>
              </a:tblGrid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Izvor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PCD grupa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avg. PCD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interpretacija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ChatGPT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0,398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više validnih grupa i veća raznolikost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Ollama llama3.1:8b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0,274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malo validnih grupa i niža raznolikost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Leksička provjera: Hunspell screening + ručni HJP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917999"/>
            <a:ext cx="2772000" cy="17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000" y="917999"/>
            <a:ext cx="64800" cy="1764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5999" y="1007999"/>
            <a:ext cx="253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Hunspell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259999"/>
            <a:ext cx="2538000" cy="1386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Automatski provjerava svaku normaliziranu riječ preko hrvatskog rječnika `hr_HR`.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Izlaz: yes / no / unsure + popis nepoznatih ili odbačenih riječi.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917999"/>
            <a:ext cx="2772000" cy="17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1999" y="917999"/>
            <a:ext cx="64800" cy="1764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7998" y="1007999"/>
            <a:ext cx="253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Hunspell nije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259999"/>
            <a:ext cx="2538000" cy="1386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Nije HJP dokaz.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Ne provjerava značenje rečenice.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Ne provjerava kliničku prikladnost.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Može odbiti valjane oblike ili prihvatiti kontekstualno loše riječi.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917999"/>
            <a:ext cx="2772000" cy="17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3999" y="917999"/>
            <a:ext cx="64800" cy="1764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9998" y="1007999"/>
            <a:ext cx="253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Ručni HJP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259999"/>
            <a:ext cx="2538000" cy="1386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Izvoz jedinstvenih riječi → ručno `hjp_valid`.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Riječ: validna ako je ta riječ yes.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Rečenica: validna samo ako su sve riječi yes.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3999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999" y="3042000"/>
            <a:ext cx="190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1F5D7A"/>
                </a:solidFill>
                <a:latin typeface="Aptos"/>
              </a:rPr>
              <a:t>95,4 %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999" y="3312000"/>
            <a:ext cx="1836000" cy="37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ChatGPT Plus Hunspell-valid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00000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00000" y="3042000"/>
            <a:ext cx="190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776 / 797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6000" y="3312000"/>
            <a:ext cx="1836000" cy="37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HJP-valid nakon word-review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6000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6000" y="3042000"/>
            <a:ext cx="190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B74F4F"/>
                </a:solidFill>
                <a:latin typeface="Aptos"/>
              </a:rPr>
              <a:t>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2000" y="3312000"/>
            <a:ext cx="1836000" cy="37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HJP-invalid kandidata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92000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92000" y="3042000"/>
            <a:ext cx="190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8000" y="3312000"/>
            <a:ext cx="1836000" cy="37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TTS-ready: tehnički + HJP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Audio faza: isti tekst, tri TTS sustava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655999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Ulaz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430000" cy="1277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Samo kandidati koji su prošli: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tehničku validaciju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Hunspell screening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ručni HJP word-review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4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4000" y="1080000"/>
            <a:ext cx="64800" cy="1655999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9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TTS sustavi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9999" y="1422000"/>
            <a:ext cx="2430000" cy="1277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eSpeak NG, hrvatski glas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Coqui VITS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SpeechT5 HR lokalni model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Svi dobivaju isti skup tekstova.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96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96000" y="1080000"/>
            <a:ext cx="64800" cy="1655999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21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Izlaz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999" y="1422000"/>
            <a:ext cx="2430000" cy="1277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Svi WAV-ovi normalizirani su na: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mono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16 kHz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16-bit PCM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Zatim ide ASR i slušna provjera.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3491999"/>
            <a:ext cx="8496000" cy="32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250" b="0">
                <a:solidFill>
                  <a:srgbClr val="606C75"/>
                </a:solidFill>
                <a:latin typeface="Aptos"/>
              </a:rPr>
              <a:t>Uravnoteženi TTS podskup: 96 kandidata; skupina S / 70 % / riječ imala je samo 1 dostupni validirani kandidat.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3: tehnička TTS provjera i ASR WER/CER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080000"/>
          <a:ext cx="8928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840"/>
                <a:gridCol w="1607040"/>
                <a:gridCol w="1607040"/>
                <a:gridCol w="1607040"/>
                <a:gridCol w="1607040"/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TTS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sintetizirano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format OK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WER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CER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Coqui VITS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1,187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0,693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eSpeak NG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1,076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0,443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SpeechT5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0,967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0,438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20000" y="2628000"/>
          <a:ext cx="3780000" cy="16559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40000" y="2664000"/>
            <a:ext cx="4031999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40000" y="2664000"/>
            <a:ext cx="64800" cy="1368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5999" y="2754000"/>
            <a:ext cx="3797999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Caveat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5999" y="3006000"/>
            <a:ext cx="3797999" cy="99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ASR WER/CER je relativni proxy za razumljivost, nije klinički dokaz izgovora. Visok WER može doći od TTS-a, ASR-a ili neobičnog fonemskog sastava materijala.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Audio demo: ista rečenica kroz tri TTS sustava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3999" y="1007999"/>
            <a:ext cx="8856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3999" y="1007999"/>
            <a:ext cx="64800" cy="72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998" y="1097999"/>
            <a:ext cx="862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Tekst za usporedbu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998" y="1349999"/>
            <a:ext cx="8622000" cy="3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Sva tri audio primjera koriste isti kandidat: „Draga rada radi.”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Kopije su pojačane samo za prezentaciju, posebno zbog tišeg SpeechT5 izlaza.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000" y="2232000"/>
            <a:ext cx="2340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2502000"/>
            <a:ext cx="2268000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eSpeak NG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648000" y="3114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demo_draga_rada_radi_espeak_ng.wav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3438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850" b="0">
                <a:solidFill>
                  <a:srgbClr val="606C75"/>
                </a:solidFill>
                <a:latin typeface="Aptos"/>
              </a:rPr>
              <a:t>Klikni naziv datoteke ili pusti WAV iz mape audio_demo.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0" y="2232000"/>
            <a:ext cx="2340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6000" y="2502000"/>
            <a:ext cx="2268000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Coqui VITS HR</a:t>
            </a:r>
          </a:p>
        </p:txBody>
      </p:sp>
      <p:sp>
        <p:nvSpPr>
          <p:cNvPr id="18" name="TextBox 17">
            <a:hlinkClick r:id="rId3"/>
          </p:cNvPr>
          <p:cNvSpPr txBox="1"/>
          <p:nvPr/>
        </p:nvSpPr>
        <p:spPr>
          <a:xfrm>
            <a:off x="3600000" y="3114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demo_draga_rada_radi_coqui_vits_hr.wav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0" y="3438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850" b="0">
                <a:solidFill>
                  <a:srgbClr val="606C75"/>
                </a:solidFill>
                <a:latin typeface="Aptos"/>
              </a:rPr>
              <a:t>Klikni naziv datoteke ili pusti WAV iz mape audio_demo.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2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2000" y="2232000"/>
            <a:ext cx="2340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8000" y="2502000"/>
            <a:ext cx="2268000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SpeechT5 HR</a:t>
            </a:r>
          </a:p>
        </p:txBody>
      </p:sp>
      <p:sp>
        <p:nvSpPr>
          <p:cNvPr id="23" name="TextBox 22">
            <a:hlinkClick r:id="rId4"/>
          </p:cNvPr>
          <p:cNvSpPr txBox="1"/>
          <p:nvPr/>
        </p:nvSpPr>
        <p:spPr>
          <a:xfrm>
            <a:off x="6552000" y="3114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demo_draga_rada_radi_speecht5_hr.wav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2000" y="3438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850" b="0">
                <a:solidFill>
                  <a:srgbClr val="606C75"/>
                </a:solidFill>
                <a:latin typeface="Aptos"/>
              </a:rPr>
              <a:t>Klikni naziv datoteke ili pusti WAV iz mape audio_demo.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4428000"/>
            <a:ext cx="8640000" cy="251999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606C75"/>
                </a:solidFill>
                <a:latin typeface="Aptos"/>
              </a:rPr>
              <a:t>Mapa s demo snimkama: /mnt/d/audiorehabilitation/outputs/manual-20260613-ppt/presentations/audiorehab-results/output/audio_demo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4: slušna provjera na uravnoteženom uzorku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080000"/>
          <a:ext cx="8928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400"/>
                <a:gridCol w="1071360"/>
                <a:gridCol w="1874880"/>
                <a:gridCol w="1874880"/>
                <a:gridCol w="1428480"/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TTS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razumljivost /5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prirodnost /5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WER uzorka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Coqui VITS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2,15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2,10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eSpeak NG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4,65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3,30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0,967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SpeechT5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0,958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0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2700000"/>
            <a:ext cx="64800" cy="1368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999" y="279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Najrazumljiviji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99" y="3042000"/>
            <a:ext cx="2466000" cy="99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eSpeak 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prosjek 4,65/5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medijan 5/5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4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4000" y="2700000"/>
            <a:ext cx="64800" cy="1368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9999" y="279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Najprirodniji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9999" y="3042000"/>
            <a:ext cx="2466000" cy="99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SpeechT5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prosjek 3,60/5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medijan 4/5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8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8000" y="2700000"/>
            <a:ext cx="64800" cy="1368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3999" y="279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Najslabiji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3999" y="3042000"/>
            <a:ext cx="2466000" cy="99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Coqui VITS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niža razumljivost i prirodnost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u ovom materijalu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Što je ostvareno, što nije i sljedeći koraci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000" y="972000"/>
            <a:ext cx="64800" cy="2232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5999" y="1062000"/>
            <a:ext cx="253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Ostvareno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314000"/>
            <a:ext cx="2538000" cy="185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reprodukcija ideje iz literature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deterministički hrvatski fonemizator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CSV/Markdown izvještaji i PCD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ChatGPT vs. Ollama usporedba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HJP word-review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3 TTS sustava + ASR + slušna provjera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1999" y="972000"/>
            <a:ext cx="64800" cy="2232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7998" y="1062000"/>
            <a:ext cx="253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Nije ostvareno / ograničenja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314000"/>
            <a:ext cx="2538000" cy="185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nije klinički odobren materijal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ChatGPT Plus je ručni, ne API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HJP nije automatski scrap-an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slušna provjera ima jednog recenzenta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ASR je proxy, ne dokaz izgovora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3999" y="972000"/>
            <a:ext cx="64800" cy="2232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9998" y="1062000"/>
            <a:ext cx="253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Problemi i rješenja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314000"/>
            <a:ext cx="2538000" cy="185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LLM ne zna pouzdano brojati foneme → Python validacija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duplikati → detekcija i izvještaj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lokalni modeli slabi → odvojena usporedba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TTS formati različiti → normalizacija WAV-a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3671999"/>
            <a:ext cx="8496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1F5D7A"/>
                </a:solidFill>
                <a:latin typeface="Aptos"/>
              </a:rPr>
              <a:t>Zaključak: pipeline je reproducibilan i pokazuje da generiranje materijala može pomoći, ali konačna lingvistička i klinička odluka ostaje na čovjeku.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1372</TotalTime>
  <Words>1435</Words>
  <Application>Microsoft Office PowerPoint</Application>
  <PresentationFormat>Widescreen</PresentationFormat>
  <Paragraphs>182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Cambria Math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Računalna obrada govora i jezika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ROGJ tema 16</dc:title>
  <dc:subject>Evaluacija jezičnih generativnih modela za potrebe audiorehabilitacije</dc:subject>
  <dc:creator>OpenAI</dc:creator>
  <cp:lastModifiedBy>Denis Ibiši</cp:lastModifiedBy>
  <cp:revision>37</cp:revision>
  <dcterms:created xsi:type="dcterms:W3CDTF">2026-04-24T12:28:30Z</dcterms:created>
  <dcterms:modified xsi:type="dcterms:W3CDTF">2026-04-26T22:18:15Z</dcterms:modified>
</cp:coreProperties>
</file>