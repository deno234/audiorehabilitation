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791700" cy="5508625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731" autoAdjust="0"/>
  </p:normalViewPr>
  <p:slideViewPr>
    <p:cSldViewPr snapToGrid="0" snapToObjects="1">
      <p:cViewPr>
        <p:scale>
          <a:sx n="66" d="100"/>
          <a:sy n="66" d="100"/>
        </p:scale>
        <p:origin x="-14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hr-HR" sz="1100"/>
              <a:t>Ukupna usporedba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tehnički valjano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48.6</c:v>
                </c:pt>
                <c:pt idx="1">
                  <c:v>4.5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7AD-4B51-BFC7-4352578BFE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prolaz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85.9</c:v>
                </c:pt>
                <c:pt idx="1">
                  <c:v>4.5999999999999996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7AD-4B51-BFC7-4352578BFE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Hunspell</c:v>
                </c:pt>
              </c:strCache>
            </c:strRef>
          </c:tx>
          <c:spPr>
            <a:solidFill>
              <a:srgbClr val="1F5D7A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95.4</c:v>
                </c:pt>
                <c:pt idx="1">
                  <c:v>76.8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7AD-4B51-BFC7-4352578BFE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pl-PL" sz="1100"/>
              <a:t>Niže je bolje; skala radi prikaza ×100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WER ×100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118.7</c:v>
                </c:pt>
                <c:pt idx="1">
                  <c:v>107.6</c:v>
                </c:pt>
                <c:pt idx="2">
                  <c:v>96.7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7DE-409E-B7B3-DED8CB6AF9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×100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69.3</c:v>
                </c:pt>
                <c:pt idx="1">
                  <c:v>44.3</c:v>
                </c:pt>
                <c:pt idx="2">
                  <c:v>43.8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7DE-409E-B7B3-DED8CB6AF9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audio_demo/demo_draga_rada_radi_coqui_vits_hr.wav" TargetMode="External"/><Relationship Id="rId2" Type="http://schemas.openxmlformats.org/officeDocument/2006/relationships/hyperlink" Target="audio_demo/demo_draga_rada_radi_espeak_ng.wa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audio_demo/demo_draga_rada_radi_speecht5_hr.wav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72000"/>
            <a:ext cx="9792000" cy="75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800" b="1">
                <a:solidFill>
                  <a:srgbClr val="1F5D7A"/>
                </a:solidFill>
                <a:latin typeface="Aptos"/>
              </a:rPr>
              <a:t>Evaluacija jezičnih generativnih modela</a:t>
            </a:r>
            <a:br/>
            <a:r>
              <a:rPr sz="2800" b="1">
                <a:solidFill>
                  <a:srgbClr val="1F5D7A"/>
                </a:solidFill>
                <a:latin typeface="Aptos"/>
              </a:rPr>
              <a:t>za potrebe audiorehabilitacije</a:t>
            </a:r>
          </a:p>
        </p:txBody>
      </p:sp>
      <p:sp>
        <p:nvSpPr>
          <p:cNvPr id="3" name="Oval 2"/>
          <p:cNvSpPr/>
          <p:nvPr/>
        </p:nvSpPr>
        <p:spPr>
          <a:xfrm>
            <a:off x="720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LLM</a:t>
            </a:r>
          </a:p>
        </p:txBody>
      </p:sp>
      <p:sp>
        <p:nvSpPr>
          <p:cNvPr id="5" name="Oval 4"/>
          <p:cNvSpPr/>
          <p:nvPr/>
        </p:nvSpPr>
        <p:spPr>
          <a:xfrm>
            <a:off x="2484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40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fonemi</a:t>
            </a:r>
          </a:p>
        </p:txBody>
      </p:sp>
      <p:sp>
        <p:nvSpPr>
          <p:cNvPr id="7" name="Oval 6"/>
          <p:cNvSpPr/>
          <p:nvPr/>
        </p:nvSpPr>
        <p:spPr>
          <a:xfrm>
            <a:off x="4248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04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validacija</a:t>
            </a:r>
          </a:p>
        </p:txBody>
      </p:sp>
      <p:sp>
        <p:nvSpPr>
          <p:cNvPr id="9" name="Oval 8"/>
          <p:cNvSpPr/>
          <p:nvPr/>
        </p:nvSpPr>
        <p:spPr>
          <a:xfrm>
            <a:off x="6012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68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TTS</a:t>
            </a:r>
          </a:p>
        </p:txBody>
      </p:sp>
      <p:sp>
        <p:nvSpPr>
          <p:cNvPr id="11" name="Oval 10"/>
          <p:cNvSpPr/>
          <p:nvPr/>
        </p:nvSpPr>
        <p:spPr>
          <a:xfrm>
            <a:off x="7776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2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6246000"/>
            <a:ext cx="1620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r"/>
            <a:r>
              <a:rPr sz="1200" b="0">
                <a:solidFill>
                  <a:srgbClr val="606C75"/>
                </a:solidFill>
                <a:latin typeface="Aptos"/>
              </a:rPr>
              <a:t>Denis Ibiši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Motivacija: zašto baš fonetski kontroliran materijal?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8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8000" y="1512000"/>
            <a:ext cx="64800" cy="144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3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Slušni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 audiorehabilitaciji često se vježbaju kontrasti koje korisnik teško razlikuje.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Primjer: /s/ i /š/, /č/ i /ć/, /nj/ i /lj/.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0000" y="1512000"/>
            <a:ext cx="64800" cy="144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5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Kontrolirani tekst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Treba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znati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koliko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je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ciljanih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fonema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u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rečenici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Zato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uvodimo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klase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fonema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postotak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zasićenja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2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32000" y="1512000"/>
            <a:ext cx="64800" cy="144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7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vježbe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Tekst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se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smije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pretvoriti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u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zvuk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tek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nakon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validacije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>
                <a:solidFill>
                  <a:srgbClr val="2A343D"/>
                </a:solidFill>
                <a:latin typeface="Aptos"/>
              </a:rPr>
              <a:t>TTS je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zadnji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korak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, ne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dokaz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kvalitete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Istraživačko pitanje i doprinos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422000"/>
            <a:ext cx="1763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 err="1">
                <a:solidFill>
                  <a:srgbClr val="2A343D"/>
                </a:solidFill>
                <a:latin typeface="Aptos"/>
              </a:rPr>
              <a:t>Može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LLM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generirati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hrvatske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rečenice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s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traženim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fonemskim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zasićenjem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4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21999"/>
            <a:ext cx="1799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 err="1">
                <a:solidFill>
                  <a:srgbClr val="2A343D"/>
                </a:solidFill>
                <a:latin typeface="Aptos"/>
              </a:rPr>
              <a:t>Možemo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sve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provjeriti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deterministički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, bez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vjerovanja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modelu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21999"/>
            <a:ext cx="1835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 err="1">
                <a:solidFill>
                  <a:srgbClr val="2A343D"/>
                </a:solidFill>
                <a:latin typeface="Aptos"/>
              </a:rPr>
              <a:t>Može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validirani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tekst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postati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tehnički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ispravan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audio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materijal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28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695B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4000" y="1422000"/>
            <a:ext cx="1836000" cy="33797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Koji je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izvor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bolji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Plus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lokalni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520000"/>
            <a:ext cx="82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000" y="2520000"/>
            <a:ext cx="64800" cy="14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999" y="2610000"/>
            <a:ext cx="80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600" b="1" dirty="0" err="1">
                <a:solidFill>
                  <a:srgbClr val="1F5D7A"/>
                </a:solidFill>
                <a:latin typeface="Aptos"/>
              </a:rPr>
              <a:t>Glavna</a:t>
            </a:r>
            <a:r>
              <a:rPr sz="16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F5D7A"/>
                </a:solidFill>
                <a:latin typeface="Aptos"/>
              </a:rPr>
              <a:t>metodološka</a:t>
            </a:r>
            <a:r>
              <a:rPr sz="16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F5D7A"/>
                </a:solidFill>
                <a:latin typeface="Aptos"/>
              </a:rPr>
              <a:t>odluka</a:t>
            </a:r>
            <a:endParaRPr sz="16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5999" y="2862000"/>
            <a:ext cx="8046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ne broji foneme i ne odlučuje je li kandidat valjan.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samo predlaže tekst. Python fonemizira, računa zasićenje, pronalazi duplikate, provjerava duljinu i generira CSV/Markdown izvještaje.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Veza s radom Andrijašević i Vukelić (MIPRO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 dirty="0" err="1">
                <a:solidFill>
                  <a:srgbClr val="606C75"/>
                </a:solidFill>
                <a:latin typeface="Aptos"/>
              </a:rPr>
              <a:t>Računalna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obrada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govora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i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jezika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·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diplomski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studij</a:t>
            </a:r>
            <a:endParaRPr sz="850" b="0" dirty="0">
              <a:solidFill>
                <a:srgbClr val="606C75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64800" cy="16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preuzimamo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hrvatski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materijal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za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auditivni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trening</a:t>
            </a:r>
            <a:endParaRPr sz="12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dirty="0">
                <a:solidFill>
                  <a:srgbClr val="2A343D"/>
                </a:solidFill>
                <a:latin typeface="Aptos"/>
              </a:rPr>
              <a:t>• pet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fonemskih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klasa</a:t>
            </a:r>
            <a:endParaRPr sz="12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ciljnom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klasom</a:t>
            </a:r>
            <a:endParaRPr sz="12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kratke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rečenice</a:t>
            </a:r>
            <a:endParaRPr sz="12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91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1080000"/>
            <a:ext cx="64800" cy="162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mijenjamo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validacija nije u rukama LLM-a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sve ide kroz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spremamo sirove odgovore, CSV i izvještaje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dodajemo PCD, TTS, ASR i slušnu provjeru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62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uspoređujemo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reprodukcija paper-style promptova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ChatGPT Plus vs. Ollama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vs. strict_plain_list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eSpeak, Coqui i SpeechT5 za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456000"/>
            <a:ext cx="8280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B74F4F"/>
                </a:solidFill>
                <a:latin typeface="Aptos"/>
              </a:rPr>
              <a:t>Važno: HJP u promptu nije dokaz. HJP valjanost je odvojena ručna / riječ-po-riječ provjera.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Fonemski zahtjevi: pet klasa i formula zasićenja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080000"/>
          <a:ext cx="5256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Fonemi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N / Niski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m, n, nj, b, p,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SN / Srednjeniski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v, g, o, h, l, lj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 / Srednji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a, k, r, d, dž, f, 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SV / Srednjevisoki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č, e, š, t, đ, 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 / Visoki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ć, i, c, z,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1080000"/>
            <a:ext cx="3131999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0000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5999" y="1170000"/>
            <a:ext cx="2897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999" y="1422000"/>
            <a:ext cx="2897999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zasićenje = broj fonema ciljne klase / ukupan broj fonema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3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Parser najprije prepoznaje dž, lj i nj kao jedan fonem.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3348000"/>
            <a:ext cx="6983999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40000" y="3348000"/>
            <a:ext cx="64800" cy="7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5999" y="3385800"/>
            <a:ext cx="6749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Primjer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0801" y="3583800"/>
            <a:ext cx="6685199" cy="467663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>
                <a:solidFill>
                  <a:srgbClr val="2A343D"/>
                </a:solidFill>
                <a:latin typeface="Aptos"/>
              </a:rPr>
              <a:t>„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puno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banana u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panju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” → p u n o b a n a n a u p a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nj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>
                <a:solidFill>
                  <a:srgbClr val="2A343D"/>
                </a:solidFill>
                <a:latin typeface="Aptos"/>
              </a:rPr>
              <a:t>`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nj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` se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broji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jedan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fonem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razmaci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se ne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broje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Implementirani postupak: generiranje + deterministička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klasa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tip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teksta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1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1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Plus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generira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kandidate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4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4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fonemizator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394000"/>
            <a:ext cx="1206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normalizacija + dž/lj/nj longest-match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validacija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>
                <a:solidFill>
                  <a:srgbClr val="2A343D"/>
                </a:solidFill>
                <a:latin typeface="Aptos"/>
              </a:rPr>
              <a:t>SL,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znakovi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3–5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duplikati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leksika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2394000"/>
            <a:ext cx="1206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Hunspell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+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ručni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HJP word-review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3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izvještaj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000" y="2394000"/>
            <a:ext cx="1206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>
                <a:solidFill>
                  <a:srgbClr val="2A343D"/>
                </a:solidFill>
                <a:latin typeface="Aptos"/>
              </a:rPr>
              <a:t>CSV, Markdown,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tablice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greške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PCD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600000"/>
            <a:ext cx="828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Sva čitanja i pisanja CSV-a rade u UTF-8, tako da se čuvaju č, ć, đ, š, ž i fonemi dž/lj/nj.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Tehnička implementacija: moduli i podaci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936000"/>
          <a:ext cx="9072000" cy="26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500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Modul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Što radi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Ulaz/izlaz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phonemizer.py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normalizacija, UTF-8, dž/lj/nj longest-match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tekst → fonemi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phoneme_classes.py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mapiranje fonema u N, SN, S, SV, 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fonem → klasa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validators.py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saturation, znakovi, broj riječi, duplikati, Hunspell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candidate → pass/fail + reasons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metrics.py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PCD, frekvencije fonema, duplicate rate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validirani redovi → metrike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generators.py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manual CSV, Ollama parser, prompt strategije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LLM output → CSV kandidati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report.py / pipeline.py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run_id, config snapshot, CSV/Markdown report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reproducibilni eksperimenti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tts.py / asr_eval.py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WAV normalizacija, TTS manifest, WER/CER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validirani tekst → audio evaluacija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3851999"/>
            <a:ext cx="8712000" cy="57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3851999"/>
            <a:ext cx="64800" cy="576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99" y="3849039"/>
            <a:ext cx="847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Reproducibilnost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6850" y="4066944"/>
            <a:ext cx="8478000" cy="198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2A343D"/>
                </a:solidFill>
                <a:latin typeface="Aptos"/>
              </a:rPr>
              <a:t>Svaki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run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ima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`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run_id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`,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kopiju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konfiguracije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, UTF-8 CSV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izlaze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sirove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generacije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Markdown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izvještaj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.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Zato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se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rezultati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mogu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ponovno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provjeriti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bez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ručnog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brojanja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Ključni algoritam: fonemizacija i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Fonemizacija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1. lowercase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2. ukloni interpunkciju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3. očuvaj č, ć, đ, š, ž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4. longest-match: dž, lj, nj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5. ostala slova kao pojedinačni fonemi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6. razmaci se ne broje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68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Saturation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8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target_count = broj fonema iz ciljne klase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N = ukupan broj fonema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3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saturation = target_count / N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3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>
                <a:solidFill>
                  <a:srgbClr val="2A343D"/>
                </a:solidFill>
                <a:latin typeface="Aptos"/>
              </a:rPr>
              <a:t>passes = saturation ≥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Failure reasons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 dirty="0" err="1">
                <a:solidFill>
                  <a:srgbClr val="2A343D"/>
                </a:solidFill>
                <a:latin typeface="Aptos"/>
              </a:rPr>
              <a:t>Svaki</a:t>
            </a:r>
            <a:r>
              <a:rPr sz="11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kandidat</a:t>
            </a:r>
            <a:r>
              <a:rPr sz="11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može</a:t>
            </a:r>
            <a:r>
              <a:rPr sz="11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imati</a:t>
            </a:r>
            <a:r>
              <a:rPr sz="11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više</a:t>
            </a:r>
            <a:r>
              <a:rPr sz="11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razloga</a:t>
            </a:r>
            <a:r>
              <a:rPr sz="1130" b="0" dirty="0">
                <a:solidFill>
                  <a:srgbClr val="2A343D"/>
                </a:solidFill>
                <a:latin typeface="Aptos"/>
              </a:rPr>
              <a:t> pada: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failed_saturation</a:t>
            </a:r>
            <a:endParaRPr sz="113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invalid_characters</a:t>
            </a:r>
            <a:endParaRPr sz="113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wrong_word_count</a:t>
            </a:r>
            <a:endParaRPr sz="113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 dirty="0">
                <a:solidFill>
                  <a:srgbClr val="2A343D"/>
                </a:solidFill>
                <a:latin typeface="Aptos"/>
              </a:rPr>
              <a:t>• duplicate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repeated_words</a:t>
            </a:r>
            <a:endParaRPr sz="113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3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30" b="0" dirty="0" err="1">
                <a:solidFill>
                  <a:srgbClr val="2A343D"/>
                </a:solidFill>
                <a:latin typeface="Aptos"/>
              </a:rPr>
              <a:t>dictionary_failed</a:t>
            </a:r>
            <a:endParaRPr sz="113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8000" y="3744000"/>
            <a:ext cx="8496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Primjer: `panj` → p, a, nj; `džep` → dž, e, p. Ovo je deterministički parser, ne LLM procjena.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Dizajn eksperimenata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7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Reprodukcija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Riječi: 5 klasa × 5 SL × 11 = 275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Rečenice: 5 klasa × 2 SL × 21 = 210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Prompt: paper_style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Izvor: ChatGPT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87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Task 16 usporedba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5 klasa × 2 SL × 2 tipa × 2 prompta × 20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ChatGPT Plus: 797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Ollama: 757 kandidata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87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faza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TTS-ready skup: 355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Uravnoteženi TTS podskup: 96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Sinteza: eSpeak NG, Coqui VITS HR, SpeechT5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491999"/>
            <a:ext cx="756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200" b="0">
                <a:solidFill>
                  <a:srgbClr val="606C75"/>
                </a:solidFill>
                <a:latin typeface="Aptos"/>
              </a:rPr>
              <a:t>SL = saturation level / prag zasićenja ciljnom fonemskom klasom.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riječi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080000"/>
          <a:ext cx="4356000" cy="1945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7428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45,45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432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76000" y="1080000"/>
          <a:ext cx="4356000" cy="1691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3311999"/>
            <a:ext cx="871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3311999"/>
            <a:ext cx="64800" cy="97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999" y="3401999"/>
            <a:ext cx="847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riječi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99" y="3653999"/>
            <a:ext cx="8478000" cy="5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80" b="0">
                <a:solidFill>
                  <a:srgbClr val="2A343D"/>
                </a:solidFill>
                <a:latin typeface="Aptos"/>
              </a:rPr>
              <a:t>Paper Table II prikazuje postotak riječi koje zadovoljavaju oba kriterija: saturation level + HJP/standardni jezik. Naša analogna tablica koristi saturation pass + ručni HJP word-review. Duplikati su dodatno analizirani u našem pipelineu, ali nisu dio ove paper-style ćelije.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rečenice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116000"/>
          <a:ext cx="3527998" cy="177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66,67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44000" y="1116000"/>
          <a:ext cx="3527998" cy="177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76,19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90,48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00" y="3168000"/>
            <a:ext cx="864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00" y="3168000"/>
            <a:ext cx="64800" cy="104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999" y="3258000"/>
            <a:ext cx="840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rečenice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3510000"/>
            <a:ext cx="8406000" cy="66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Paper Table III prikazuje postotak rečenica koje zadovoljavaju saturation criterion. Naša analogna tablica koristi isti saturation-pass kriterij. Rezultat je vrlo jak na 50 %, a na 70 % jasno pada za klasu 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2: ChatGPT Plus vs. lokalni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3999" y="1080000"/>
          <a:ext cx="4500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0" y="1206000"/>
          <a:ext cx="3888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valid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glavne greške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48,6 %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duplikati=361; SL=112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757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4,5 %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SL=722; broj riječi=195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0" y="2628000"/>
            <a:ext cx="3888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0" y="2628000"/>
            <a:ext cx="64800" cy="1007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72000" y="2610000"/>
            <a:ext cx="3654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Interpretacija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25999" y="2850069"/>
            <a:ext cx="3654000" cy="629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3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Plus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najčešće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razumije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fonemski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zadatak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ali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se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ponavlja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.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uglavnom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ne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pogađa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ciljno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, pa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dovoljno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pouzdan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u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ovoj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konfiguraciji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najčešće pošlo krivo?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0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50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ChatGPT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386000"/>
            <a:ext cx="2502000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2A343D"/>
                </a:solidFill>
                <a:latin typeface="Aptos"/>
              </a:rPr>
              <a:t>Najveći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problem: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duplikati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strict_plain_list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za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: 188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duplikata</a:t>
            </a:r>
            <a:endParaRPr sz="12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paper_style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za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: 71,5 %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tehnički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valjano</a:t>
            </a:r>
            <a:endParaRPr sz="12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saturacija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A343D"/>
                </a:solidFill>
                <a:latin typeface="Aptos"/>
              </a:rPr>
              <a:t>uglavnom</a:t>
            </a:r>
            <a:r>
              <a:rPr sz="1250" b="0" dirty="0">
                <a:solidFill>
                  <a:srgbClr val="2A343D"/>
                </a:solidFill>
                <a:latin typeface="Aptos"/>
              </a:rPr>
              <a:t> dobra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8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8000" y="1080000"/>
            <a:ext cx="64800" cy="1800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3999" y="1170000"/>
            <a:ext cx="250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999" y="1422000"/>
            <a:ext cx="2502000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fonetski kriterij.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722 kandidata pala su na zasićenju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195 pogrešan broj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lokalni model ne broji foneme pouzdano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50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Lekcija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502000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Prompt nije validacija.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I kad tekst izgleda hrvatski, može pasti na fonemima, duplikatima, HJP-u ili strukturi rečenice.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600000"/>
            <a:ext cx="8280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Rješenje: model generira više kandidata nego što treba, a Python prihvaća samo one koji prođu pravila.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Kako evaluator odlučuje valjanost + PCD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244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6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Tehnički pragovi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646000" cy="207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Kandidat je tehnički valjan ako prođe: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zasićenje ≥ traženi SL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samo hrvatska slova i razmaci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word = točno 1 riječ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sentence = 3–5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nije duplikat u runu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nema ponovljene riječi u rečenici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000" y="917999"/>
            <a:ext cx="64800" cy="2448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1999" y="1007999"/>
            <a:ext cx="26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Razina eksperimenta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999" y="1259999"/>
            <a:ext cx="2646000" cy="207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Korišteni pragovi: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paper riječi: SL 40, 50, 60, 70, 80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paper rečenice: SL 50 i 70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• Task 16: SL 50 i 70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08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SL = minimalni % fonema ciljne klase.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2000" y="917999"/>
            <a:ext cx="2880000" cy="24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52000" y="917999"/>
            <a:ext cx="64800" cy="2448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7999" y="1007999"/>
            <a:ext cx="26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999" y="1259999"/>
            <a:ext cx="2646000" cy="207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Phonetic Content Dissimilarity mjeri koliko su dva kandidata fonetski različita.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08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Naš paper-style PCD koristi dulji kandidat kao nazivnik.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80" b="0">
                <a:solidFill>
                  <a:srgbClr val="2A343D"/>
                </a:solidFill>
                <a:latin typeface="Aptos"/>
              </a:rPr>
              <a:t>Veći PCD = veća raznolikost.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20000" y="3636000"/>
          <a:ext cx="8352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1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PCD grupa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avg. PCD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interpretacija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više validnih grupa i veća raznolikost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0,274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malo validnih grupa i niža raznolikost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Leksička provjera: Hunspell screening + ručni HJP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1764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Hunspell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Automatski provjerava svaku normaliziranu riječ preko hrvatskog rječnika `hr_HR`.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2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Izlaz: yes / no / unsure + popis nepoznatih ili odbačenih riječi.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17999"/>
            <a:ext cx="64800" cy="1764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Hunspell nije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Nije HJP dokaz.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Ne provjerava značenje rečenice.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Ne provjerava kliničku prikladnost.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Može odbiti valjane oblike ili prihvatiti kontekstualno loše riječi.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17999"/>
            <a:ext cx="64800" cy="176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Ručni HJP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Izvoz jedinstvenih riječi → ručno `hjp_valid`.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2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Riječ: validna ako je ta riječ yes.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>
                <a:solidFill>
                  <a:srgbClr val="2A343D"/>
                </a:solidFill>
                <a:latin typeface="Aptos"/>
              </a:rPr>
              <a:t>Rečenica: validna samo ako su sve riječi 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999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3999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1F5D7A"/>
                </a:solidFill>
                <a:latin typeface="Aptos"/>
              </a:rPr>
              <a:t>95,4 %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99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ChatGPT Plus Hunspell-valid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0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00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776 / 797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6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HJP-valid nakon word-review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6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6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B74F4F"/>
                </a:solidFill>
                <a:latin typeface="Aptos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2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HJP-invalid kandidata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2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92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8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TTS-ready: tehnički + HJP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točno utječe na rezultate?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4000" y="917999"/>
          <a:ext cx="9144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Rezultat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Što mjeri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Što ga ruši / smanjuje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Kako se koristi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SL prolaznost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samo fonemi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target_count / total ≥ 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glavni fonetski kriterij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Tehnička valjanost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struktura + fonemi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SL, znakovi, broj riječi, duplikat, ponavljanje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osnovni Python pass/fail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Hunspell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leksika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svaka riječ prihvaćena u hr_HR rječniku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automatski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Technical + Hunspell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tehnika + screening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tehnički validno i Hunspell=yes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skalabilna leksička procjena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HJP/manual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ručni word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sve riječi u kandidatu imaju hjp_valid=yes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najbliže kriteriju iz paper-a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PCD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raznolikost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fonemska udaljenost među kandidatima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nije pass/fail nego diversity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TTS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audio tehnika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WAV postoji, mono, 16 kHz, 16-bit PCM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ne dokazuje prirodnost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WER/CER + slušanje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audio razumljivost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ASR pogreške + ljudske ocjene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proxy + subjektivna provjera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3960000"/>
            <a:ext cx="8712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3960000"/>
            <a:ext cx="64800" cy="5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99" y="4050000"/>
            <a:ext cx="847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Najvažnija interpretacija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4302000"/>
            <a:ext cx="8478000" cy="1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U radu ne postoji jedna jedina “valjanost”. Rezultate čitam slojevito: prvo fonetski i strukturno, zatim automatski leksički, zatim ručno HJP, a tek onda audio.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faza: isti tekst,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655999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Ulaz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Samo kandidati koji su prošli: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tehničku validaciju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Hunspell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ručni HJP word-review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655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TTS sustavi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 NG, hrvatski glas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SpeechT5 HR lokalni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dobivaju isti skup tekstova.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655999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Izlaz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WAV-ovi normalizirani su na: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mono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 kHz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16-bit PCM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Zatim ide ASR i slušna provjera.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491999"/>
            <a:ext cx="8496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250" b="0">
                <a:solidFill>
                  <a:srgbClr val="606C75"/>
                </a:solidFill>
                <a:latin typeface="Aptos"/>
              </a:rPr>
              <a:t>Uravnoteženi TTS podskup: 96 kandidata; skupina S / 70 % / riječ imala je samo 1 dostupni validirani kandidat.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3: tehnička TTS provjera i ASR WER/CER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sintetizirano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 OK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CER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1,076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0,443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0000" y="2628000"/>
          <a:ext cx="3780000" cy="1655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40000" y="2664000"/>
            <a:ext cx="4031999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40000" y="2664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5999" y="2754000"/>
            <a:ext cx="3797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Caveat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5999" y="3006000"/>
            <a:ext cx="3797999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ASR WER/CER je relativni proxy za razumljivost, nije klinički dokaz izgovora. Visok WER može doći od TTS-a, ASR-a ili neobičnog fonemskog sastava materijala.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demo: ista rečenica kroz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3999" y="1007999"/>
            <a:ext cx="885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3999" y="1007999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998" y="1097999"/>
            <a:ext cx="86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Tekst za usporedbu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98" y="1349999"/>
            <a:ext cx="8622000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Sva tri audio primjera koriste isti kandidat: „Draga rada radi.”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Kopije su pojačane samo za prezentaciju, posebno zbog tišeg SpeechT5 izlaza.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eSpeak NG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48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demo_draga_rada_radi_espeak_ng.wav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438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0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Coqui VITS HR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3600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demo_draga_rada_radi_coqui_vits_hr.wav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438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2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SpeechT5 HR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6552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demo_draga_rada_radi_speecht5_hr.wav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3438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428000"/>
            <a:ext cx="8640000" cy="251999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50" b="0">
                <a:solidFill>
                  <a:srgbClr val="606C75"/>
                </a:solidFill>
                <a:latin typeface="Aptos"/>
              </a:rPr>
              <a:t>Mapa s demo snimkama: /mnt/d/audiorehabilitation/outputs/manual-20260613-ppt/presentations/audiorehab-results/output/audio_demo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4: slušna provjera na uravnoteženom uzorku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razumljivost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prirodnost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 uzorka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4,65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64800" cy="1368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Najrazumljiviji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eSpeak 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4,65/5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4000" y="2700000"/>
            <a:ext cx="64800" cy="13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9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Najprirodniji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SpeechT5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3,60/5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4/5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8000" y="2700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13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Najslabiji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niža razumljivost i prirodnost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u ovom materijalu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ostvareno, što nije i sljedeći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Ostvareno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reprodukcija ideje iz literature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deterministički hrvatski fonemizator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CSV/Markdown izvještaji i PCD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vs. Ollama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word-review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3 TTS sustava + ASR + slušna provjera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Nije ostvareno / ograničenja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nije klinički odobren materijal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Plus je ručni, ne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nije automatski scrap-an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slušna provjera ima jednog recenzenta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ASR je proxy, ne dokaz izgovora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Problemi i rješenja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LLM ne zna pouzdano brojati foneme → Python validacija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duplikati → detekcija i izvještaj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lokalni modeli slabi → odvojena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TTS formati različiti → normalizacija WAV-a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9"/>
            <a:ext cx="8496000" cy="4672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Zaključak: pipeline je reproducibilan i pokazuje da generiranje materijala može pomoći, ali konačna lingvistička i klinička odluka ostaje na čovjeku.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2505</Words>
  <Application>Microsoft Office PowerPoint</Application>
  <PresentationFormat>Custom</PresentationFormat>
  <Paragraphs>559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Računalna obrada govora i jezika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tema 16</dc:title>
  <dc:subject>Evaluacija jezičnih generativnih modela za potrebe audiorehabilitacije</dc:subject>
  <dc:creator>OpenAI</dc:creator>
  <cp:lastModifiedBy>Gaming 3</cp:lastModifiedBy>
  <cp:revision>42</cp:revision>
  <dcterms:created xsi:type="dcterms:W3CDTF">2026-04-24T12:28:30Z</dcterms:created>
  <dcterms:modified xsi:type="dcterms:W3CDTF">2026-06-13T14:10:58Z</dcterms:modified>
</cp:coreProperties>
</file>